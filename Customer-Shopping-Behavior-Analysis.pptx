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Syne"/>
      <p:regular r:id="rId17"/>
    </p:embeddedFont>
    <p:embeddedFont>
      <p:font typeface="Syne"/>
      <p:regular r:id="rId18"/>
    </p:embeddedFont>
    <p:embeddedFont>
      <p:font typeface="Overpass Light"/>
      <p:regular r:id="rId19"/>
    </p:embeddedFont>
    <p:embeddedFont>
      <p:font typeface="Overpass Light"/>
      <p:regular r:id="rId20"/>
    </p:embeddedFont>
    <p:embeddedFont>
      <p:font typeface="Overpass Light"/>
      <p:regular r:id="rId21"/>
    </p:embeddedFont>
    <p:embeddedFont>
      <p:font typeface="Overpass Light"/>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slideLayout" Target="../slideLayouts/slideLayout6.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svg"/><Relationship Id="rId12" Type="http://schemas.openxmlformats.org/officeDocument/2006/relationships/slideLayout" Target="../slideLayouts/slideLayout9.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slideLayout" Target="../slideLayouts/slideLayout10.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hyperlink" Target="https://github.com/Ritesh-456" TargetMode="External"/><Relationship Id="rId6" Type="http://schemas.openxmlformats.org/officeDocument/2006/relationships/hyperlink" Target="https://www.linkedin.com/in/ritesh-brahmachari-1b7b84278/" TargetMode="External"/><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5" Type="http://schemas.openxmlformats.org/officeDocument/2006/relationships/image" Target="../media/image-10-4.png"/><Relationship Id="rId7" Type="http://schemas.openxmlformats.org/officeDocument/2006/relationships/slideLayout" Target="../slideLayouts/slideLayout1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122884"/>
            <a:ext cx="7556421" cy="1240155"/>
          </a:xfrm>
          <a:prstGeom prst="rect">
            <a:avLst/>
          </a:prstGeom>
          <a:noFill/>
          <a:ln/>
        </p:spPr>
        <p:txBody>
          <a:bodyPr wrap="square" lIns="0" tIns="0" rIns="0" bIns="0" rtlCol="0" anchor="t"/>
          <a:lstStyle/>
          <a:p>
            <a:pPr algn="l" indent="0" marL="0">
              <a:lnSpc>
                <a:spcPts val="4850"/>
              </a:lnSpc>
              <a:buNone/>
            </a:pPr>
            <a:r>
              <a:rPr lang="en-US" sz="3900" b="1" dirty="0">
                <a:solidFill>
                  <a:srgbClr val="233939"/>
                </a:solidFill>
                <a:latin typeface="Syne Bold" pitchFamily="34" charset="0"/>
                <a:ea typeface="Syne Bold" pitchFamily="34" charset="-122"/>
                <a:cs typeface="Syne Bold" pitchFamily="34" charset="-120"/>
              </a:rPr>
              <a:t>Customer Shopping Behavior Analysis</a:t>
            </a:r>
            <a:endParaRPr lang="en-US" sz="3900" dirty="0"/>
          </a:p>
        </p:txBody>
      </p:sp>
      <p:sp>
        <p:nvSpPr>
          <p:cNvPr id="4" name="Text 1"/>
          <p:cNvSpPr/>
          <p:nvPr/>
        </p:nvSpPr>
        <p:spPr>
          <a:xfrm>
            <a:off x="793790" y="3660696"/>
            <a:ext cx="7556421" cy="1270159"/>
          </a:xfrm>
          <a:prstGeom prst="rect">
            <a:avLst/>
          </a:prstGeom>
          <a:noFill/>
          <a:ln/>
        </p:spPr>
        <p:txBody>
          <a:bodyPr wrap="square" lIns="0" tIns="0" rIns="0" bIns="0" rtlCol="0" anchor="t"/>
          <a:lstStyle/>
          <a:p>
            <a:pPr algn="l" indent="0" marL="0">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A leading retail company aims to better understand its customers' shopping behavior to improve sales, customer satisfaction, and long-term loyalty. This comprehensive project analyzes a dataset of </a:t>
            </a:r>
            <a:pPr algn="l" indent="0" marL="0">
              <a:lnSpc>
                <a:spcPts val="2500"/>
              </a:lnSpc>
              <a:buNone/>
            </a:pPr>
            <a:r>
              <a:rPr lang="en-US" sz="1550" b="1" dirty="0">
                <a:solidFill>
                  <a:srgbClr val="3B4E4E"/>
                </a:solidFill>
                <a:latin typeface="Overpass Light" pitchFamily="34" charset="0"/>
                <a:ea typeface="Overpass Light" pitchFamily="34" charset="-122"/>
                <a:cs typeface="Overpass Light" pitchFamily="34" charset="-120"/>
              </a:rPr>
              <a:t>3,900 purchases</a:t>
            </a:r>
            <a:pPr algn="l" indent="0" marL="0">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 to uncover patterns across demographics, product categories, and sales channels.</a:t>
            </a:r>
            <a:endParaRPr lang="en-US" sz="1550" dirty="0"/>
          </a:p>
        </p:txBody>
      </p:sp>
      <p:sp>
        <p:nvSpPr>
          <p:cNvPr id="5" name="Text 2"/>
          <p:cNvSpPr/>
          <p:nvPr/>
        </p:nvSpPr>
        <p:spPr>
          <a:xfrm>
            <a:off x="793790" y="5154097"/>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The central question driving this analysis: </a:t>
            </a:r>
            <a:pPr algn="l" indent="0" marL="0">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"How can the company leverage consumer shopping data to identify trends, improve customer engagement, and optimize marketing strategies?"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629960" y="1046321"/>
            <a:ext cx="1579364" cy="295751"/>
          </a:xfrm>
          <a:prstGeom prst="roundRect">
            <a:avLst>
              <a:gd name="adj" fmla="val 17893"/>
            </a:avLst>
          </a:prstGeom>
          <a:solidFill>
            <a:srgbClr val="DDEEE6"/>
          </a:solidFill>
          <a:ln/>
        </p:spPr>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4376" y="1131213"/>
            <a:ext cx="125968" cy="125968"/>
          </a:xfrm>
          <a:prstGeom prst="rect">
            <a:avLst/>
          </a:prstGeom>
        </p:spPr>
      </p:pic>
      <p:sp>
        <p:nvSpPr>
          <p:cNvPr id="5" name="Text 1"/>
          <p:cNvSpPr/>
          <p:nvPr/>
        </p:nvSpPr>
        <p:spPr>
          <a:xfrm>
            <a:off x="913328" y="1093470"/>
            <a:ext cx="1201579" cy="201454"/>
          </a:xfrm>
          <a:prstGeom prst="rect">
            <a:avLst/>
          </a:prstGeom>
          <a:noFill/>
          <a:ln/>
        </p:spPr>
        <p:txBody>
          <a:bodyPr wrap="none" lIns="0" tIns="0" rIns="0" bIns="0" rtlCol="0" anchor="t"/>
          <a:lstStyle/>
          <a:p>
            <a:pPr algn="l" indent="0" marL="0">
              <a:lnSpc>
                <a:spcPts val="1550"/>
              </a:lnSpc>
              <a:buNone/>
            </a:pPr>
            <a:r>
              <a:rPr lang="en-US" sz="950" dirty="0">
                <a:solidFill>
                  <a:srgbClr val="3B4E4E"/>
                </a:solidFill>
                <a:latin typeface="Overpass Light" pitchFamily="34" charset="0"/>
                <a:ea typeface="Overpass Light" pitchFamily="34" charset="-122"/>
                <a:cs typeface="Overpass Light" pitchFamily="34" charset="-120"/>
              </a:rPr>
              <a:t>TECHNOLOGY STACK</a:t>
            </a:r>
            <a:endParaRPr lang="en-US" sz="950" dirty="0"/>
          </a:p>
        </p:txBody>
      </p:sp>
      <p:sp>
        <p:nvSpPr>
          <p:cNvPr id="6" name="Text 2"/>
          <p:cNvSpPr/>
          <p:nvPr/>
        </p:nvSpPr>
        <p:spPr>
          <a:xfrm>
            <a:off x="629960" y="1412081"/>
            <a:ext cx="7498080" cy="492085"/>
          </a:xfrm>
          <a:prstGeom prst="rect">
            <a:avLst/>
          </a:prstGeom>
          <a:noFill/>
          <a:ln/>
        </p:spPr>
        <p:txBody>
          <a:bodyPr wrap="none" lIns="0" tIns="0" rIns="0" bIns="0" rtlCol="0" anchor="t"/>
          <a:lstStyle/>
          <a:p>
            <a:pPr algn="l" indent="0" marL="0">
              <a:lnSpc>
                <a:spcPts val="3850"/>
              </a:lnSpc>
              <a:buNone/>
            </a:pPr>
            <a:r>
              <a:rPr lang="en-US" sz="3100" b="1" dirty="0">
                <a:solidFill>
                  <a:srgbClr val="233939"/>
                </a:solidFill>
                <a:latin typeface="Syne Bold" pitchFamily="34" charset="0"/>
                <a:ea typeface="Syne Bold" pitchFamily="34" charset="-122"/>
                <a:cs typeface="Syne Bold" pitchFamily="34" charset="-120"/>
              </a:rPr>
              <a:t>Project Architecture &amp; Deliverables</a:t>
            </a:r>
            <a:endParaRPr lang="en-US" sz="3100" dirty="0"/>
          </a:p>
        </p:txBody>
      </p:sp>
      <p:sp>
        <p:nvSpPr>
          <p:cNvPr id="7" name="Text 3"/>
          <p:cNvSpPr/>
          <p:nvPr/>
        </p:nvSpPr>
        <p:spPr>
          <a:xfrm>
            <a:off x="629960" y="2140387"/>
            <a:ext cx="157401" cy="196810"/>
          </a:xfrm>
          <a:prstGeom prst="rect">
            <a:avLst/>
          </a:prstGeom>
          <a:noFill/>
          <a:ln/>
        </p:spPr>
        <p:txBody>
          <a:bodyPr wrap="none" lIns="0" tIns="0" rIns="0" bIns="0" rtlCol="0" anchor="t"/>
          <a:lstStyle/>
          <a:p>
            <a:pPr algn="l" indent="0" marL="0">
              <a:lnSpc>
                <a:spcPts val="1950"/>
              </a:lnSpc>
              <a:buNone/>
            </a:pPr>
            <a:r>
              <a:rPr lang="en-US" sz="1200" dirty="0">
                <a:solidFill>
                  <a:srgbClr val="3B4E4E"/>
                </a:solidFill>
                <a:latin typeface="Syne Light" pitchFamily="34" charset="0"/>
                <a:ea typeface="Syne Light" pitchFamily="34" charset="-122"/>
                <a:cs typeface="Syne Light" pitchFamily="34" charset="-120"/>
              </a:rPr>
              <a:t>01</a:t>
            </a:r>
            <a:endParaRPr lang="en-US" sz="1200" dirty="0"/>
          </a:p>
        </p:txBody>
      </p:sp>
      <p:sp>
        <p:nvSpPr>
          <p:cNvPr id="8" name="Shape 4"/>
          <p:cNvSpPr/>
          <p:nvPr/>
        </p:nvSpPr>
        <p:spPr>
          <a:xfrm>
            <a:off x="629960" y="2385060"/>
            <a:ext cx="7884081" cy="22860"/>
          </a:xfrm>
          <a:prstGeom prst="rect">
            <a:avLst/>
          </a:prstGeom>
          <a:solidFill>
            <a:srgbClr val="224435"/>
          </a:solidFill>
          <a:ln/>
        </p:spPr>
      </p:sp>
      <p:sp>
        <p:nvSpPr>
          <p:cNvPr id="9" name="Text 5"/>
          <p:cNvSpPr/>
          <p:nvPr/>
        </p:nvSpPr>
        <p:spPr>
          <a:xfrm>
            <a:off x="629960" y="2509480"/>
            <a:ext cx="1968698" cy="246102"/>
          </a:xfrm>
          <a:prstGeom prst="rect">
            <a:avLst/>
          </a:prstGeom>
          <a:noFill/>
          <a:ln/>
        </p:spPr>
        <p:txBody>
          <a:bodyPr wrap="none" lIns="0" tIns="0" rIns="0" bIns="0" rtlCol="0" anchor="t"/>
          <a:lstStyle/>
          <a:p>
            <a:pPr algn="l" indent="0" marL="0">
              <a:lnSpc>
                <a:spcPts val="1900"/>
              </a:lnSpc>
              <a:buNone/>
            </a:pPr>
            <a:r>
              <a:rPr lang="en-US" sz="1550" b="1" dirty="0">
                <a:solidFill>
                  <a:srgbClr val="3B4E4E"/>
                </a:solidFill>
                <a:latin typeface="Syne Bold" pitchFamily="34" charset="0"/>
                <a:ea typeface="Syne Bold" pitchFamily="34" charset="-122"/>
                <a:cs typeface="Syne Bold" pitchFamily="34" charset="-120"/>
              </a:rPr>
              <a:t>Data Preparation</a:t>
            </a:r>
            <a:endParaRPr lang="en-US" sz="1550" dirty="0"/>
          </a:p>
        </p:txBody>
      </p:sp>
      <p:sp>
        <p:nvSpPr>
          <p:cNvPr id="10" name="Text 6"/>
          <p:cNvSpPr/>
          <p:nvPr/>
        </p:nvSpPr>
        <p:spPr>
          <a:xfrm>
            <a:off x="629960" y="2849999"/>
            <a:ext cx="7884081" cy="503873"/>
          </a:xfrm>
          <a:prstGeom prst="rect">
            <a:avLst/>
          </a:prstGeom>
          <a:noFill/>
          <a:ln/>
        </p:spPr>
        <p:txBody>
          <a:bodyPr wrap="square" lIns="0" tIns="0" rIns="0" bIns="0" rtlCol="0" anchor="t"/>
          <a:lstStyle/>
          <a:p>
            <a:pPr algn="l" indent="0" marL="0">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Python-based cleaning and transformation using Pandas, NumPy, and SQLAlchemy to ensure data quality and consistency</a:t>
            </a:r>
            <a:endParaRPr lang="en-US" sz="1200" dirty="0"/>
          </a:p>
        </p:txBody>
      </p:sp>
      <p:sp>
        <p:nvSpPr>
          <p:cNvPr id="11" name="Text 7"/>
          <p:cNvSpPr/>
          <p:nvPr/>
        </p:nvSpPr>
        <p:spPr>
          <a:xfrm>
            <a:off x="629960" y="3629382"/>
            <a:ext cx="157401" cy="196810"/>
          </a:xfrm>
          <a:prstGeom prst="rect">
            <a:avLst/>
          </a:prstGeom>
          <a:noFill/>
          <a:ln/>
        </p:spPr>
        <p:txBody>
          <a:bodyPr wrap="none" lIns="0" tIns="0" rIns="0" bIns="0" rtlCol="0" anchor="t"/>
          <a:lstStyle/>
          <a:p>
            <a:pPr algn="l" indent="0" marL="0">
              <a:lnSpc>
                <a:spcPts val="1950"/>
              </a:lnSpc>
              <a:buNone/>
            </a:pPr>
            <a:r>
              <a:rPr lang="en-US" sz="1200" dirty="0">
                <a:solidFill>
                  <a:srgbClr val="3B4E4E"/>
                </a:solidFill>
                <a:latin typeface="Syne Light" pitchFamily="34" charset="0"/>
                <a:ea typeface="Syne Light" pitchFamily="34" charset="-122"/>
                <a:cs typeface="Syne Light" pitchFamily="34" charset="-120"/>
              </a:rPr>
              <a:t>02</a:t>
            </a:r>
            <a:endParaRPr lang="en-US" sz="1200" dirty="0"/>
          </a:p>
        </p:txBody>
      </p:sp>
      <p:sp>
        <p:nvSpPr>
          <p:cNvPr id="12" name="Shape 8"/>
          <p:cNvSpPr/>
          <p:nvPr/>
        </p:nvSpPr>
        <p:spPr>
          <a:xfrm>
            <a:off x="629960" y="3874056"/>
            <a:ext cx="7884081" cy="22860"/>
          </a:xfrm>
          <a:prstGeom prst="rect">
            <a:avLst/>
          </a:prstGeom>
          <a:solidFill>
            <a:srgbClr val="224435"/>
          </a:solidFill>
          <a:ln/>
        </p:spPr>
      </p:sp>
      <p:sp>
        <p:nvSpPr>
          <p:cNvPr id="13" name="Text 9"/>
          <p:cNvSpPr/>
          <p:nvPr/>
        </p:nvSpPr>
        <p:spPr>
          <a:xfrm>
            <a:off x="629960" y="3998476"/>
            <a:ext cx="2598301" cy="246102"/>
          </a:xfrm>
          <a:prstGeom prst="rect">
            <a:avLst/>
          </a:prstGeom>
          <a:noFill/>
          <a:ln/>
        </p:spPr>
        <p:txBody>
          <a:bodyPr wrap="none" lIns="0" tIns="0" rIns="0" bIns="0" rtlCol="0" anchor="t"/>
          <a:lstStyle/>
          <a:p>
            <a:pPr algn="l" indent="0" marL="0">
              <a:lnSpc>
                <a:spcPts val="1900"/>
              </a:lnSpc>
              <a:buNone/>
            </a:pPr>
            <a:r>
              <a:rPr lang="en-US" sz="1550" b="1" dirty="0">
                <a:solidFill>
                  <a:srgbClr val="3B4E4E"/>
                </a:solidFill>
                <a:latin typeface="Syne Bold" pitchFamily="34" charset="0"/>
                <a:ea typeface="Syne Bold" pitchFamily="34" charset="-122"/>
                <a:cs typeface="Syne Bold" pitchFamily="34" charset="-120"/>
              </a:rPr>
              <a:t>Database Management</a:t>
            </a:r>
            <a:endParaRPr lang="en-US" sz="1550" dirty="0"/>
          </a:p>
        </p:txBody>
      </p:sp>
      <p:sp>
        <p:nvSpPr>
          <p:cNvPr id="14" name="Text 10"/>
          <p:cNvSpPr/>
          <p:nvPr/>
        </p:nvSpPr>
        <p:spPr>
          <a:xfrm>
            <a:off x="629960" y="4338995"/>
            <a:ext cx="7884081" cy="251936"/>
          </a:xfrm>
          <a:prstGeom prst="rect">
            <a:avLst/>
          </a:prstGeom>
          <a:noFill/>
          <a:ln/>
        </p:spPr>
        <p:txBody>
          <a:bodyPr wrap="none" lIns="0" tIns="0" rIns="0" bIns="0" rtlCol="0" anchor="t"/>
          <a:lstStyle/>
          <a:p>
            <a:pPr algn="l" indent="0" marL="0">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PostgreSQL implementation for storing structured data and executing complex analytical queries</a:t>
            </a:r>
            <a:endParaRPr lang="en-US" sz="1200" dirty="0"/>
          </a:p>
        </p:txBody>
      </p:sp>
      <p:sp>
        <p:nvSpPr>
          <p:cNvPr id="15" name="Text 11"/>
          <p:cNvSpPr/>
          <p:nvPr/>
        </p:nvSpPr>
        <p:spPr>
          <a:xfrm>
            <a:off x="629960" y="4866442"/>
            <a:ext cx="157401" cy="196810"/>
          </a:xfrm>
          <a:prstGeom prst="rect">
            <a:avLst/>
          </a:prstGeom>
          <a:noFill/>
          <a:ln/>
        </p:spPr>
        <p:txBody>
          <a:bodyPr wrap="none" lIns="0" tIns="0" rIns="0" bIns="0" rtlCol="0" anchor="t"/>
          <a:lstStyle/>
          <a:p>
            <a:pPr algn="l" indent="0" marL="0">
              <a:lnSpc>
                <a:spcPts val="1950"/>
              </a:lnSpc>
              <a:buNone/>
            </a:pPr>
            <a:r>
              <a:rPr lang="en-US" sz="1200" dirty="0">
                <a:solidFill>
                  <a:srgbClr val="3B4E4E"/>
                </a:solidFill>
                <a:latin typeface="Syne Light" pitchFamily="34" charset="0"/>
                <a:ea typeface="Syne Light" pitchFamily="34" charset="-122"/>
                <a:cs typeface="Syne Light" pitchFamily="34" charset="-120"/>
              </a:rPr>
              <a:t>03</a:t>
            </a:r>
            <a:endParaRPr lang="en-US" sz="1200" dirty="0"/>
          </a:p>
        </p:txBody>
      </p:sp>
      <p:sp>
        <p:nvSpPr>
          <p:cNvPr id="16" name="Shape 12"/>
          <p:cNvSpPr/>
          <p:nvPr/>
        </p:nvSpPr>
        <p:spPr>
          <a:xfrm>
            <a:off x="629960" y="5111115"/>
            <a:ext cx="7884081" cy="22860"/>
          </a:xfrm>
          <a:prstGeom prst="rect">
            <a:avLst/>
          </a:prstGeom>
          <a:solidFill>
            <a:srgbClr val="224435"/>
          </a:solidFill>
          <a:ln/>
        </p:spPr>
      </p:sp>
      <p:sp>
        <p:nvSpPr>
          <p:cNvPr id="17" name="Text 13"/>
          <p:cNvSpPr/>
          <p:nvPr/>
        </p:nvSpPr>
        <p:spPr>
          <a:xfrm>
            <a:off x="629960" y="5235535"/>
            <a:ext cx="1968698" cy="246102"/>
          </a:xfrm>
          <a:prstGeom prst="rect">
            <a:avLst/>
          </a:prstGeom>
          <a:noFill/>
          <a:ln/>
        </p:spPr>
        <p:txBody>
          <a:bodyPr wrap="none" lIns="0" tIns="0" rIns="0" bIns="0" rtlCol="0" anchor="t"/>
          <a:lstStyle/>
          <a:p>
            <a:pPr algn="l" indent="0" marL="0">
              <a:lnSpc>
                <a:spcPts val="1900"/>
              </a:lnSpc>
              <a:buNone/>
            </a:pPr>
            <a:r>
              <a:rPr lang="en-US" sz="1550" b="1" dirty="0">
                <a:solidFill>
                  <a:srgbClr val="3B4E4E"/>
                </a:solidFill>
                <a:latin typeface="Syne Bold" pitchFamily="34" charset="0"/>
                <a:ea typeface="Syne Bold" pitchFamily="34" charset="-122"/>
                <a:cs typeface="Syne Bold" pitchFamily="34" charset="-120"/>
              </a:rPr>
              <a:t>Data Analysis</a:t>
            </a:r>
            <a:endParaRPr lang="en-US" sz="1550" dirty="0"/>
          </a:p>
        </p:txBody>
      </p:sp>
      <p:sp>
        <p:nvSpPr>
          <p:cNvPr id="18" name="Text 14"/>
          <p:cNvSpPr/>
          <p:nvPr/>
        </p:nvSpPr>
        <p:spPr>
          <a:xfrm>
            <a:off x="629960" y="5576054"/>
            <a:ext cx="7884081" cy="251936"/>
          </a:xfrm>
          <a:prstGeom prst="rect">
            <a:avLst/>
          </a:prstGeom>
          <a:noFill/>
          <a:ln/>
        </p:spPr>
        <p:txBody>
          <a:bodyPr wrap="none" lIns="0" tIns="0" rIns="0" bIns="0" rtlCol="0" anchor="t"/>
          <a:lstStyle/>
          <a:p>
            <a:pPr algn="l" indent="0" marL="0">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SQL-driven extraction of insights on customer segments, revenue patterns, and behavioral trends</a:t>
            </a:r>
            <a:endParaRPr lang="en-US" sz="1200" dirty="0"/>
          </a:p>
        </p:txBody>
      </p:sp>
      <p:sp>
        <p:nvSpPr>
          <p:cNvPr id="19" name="Text 15"/>
          <p:cNvSpPr/>
          <p:nvPr/>
        </p:nvSpPr>
        <p:spPr>
          <a:xfrm>
            <a:off x="629960" y="6103501"/>
            <a:ext cx="157401" cy="196810"/>
          </a:xfrm>
          <a:prstGeom prst="rect">
            <a:avLst/>
          </a:prstGeom>
          <a:noFill/>
          <a:ln/>
        </p:spPr>
        <p:txBody>
          <a:bodyPr wrap="none" lIns="0" tIns="0" rIns="0" bIns="0" rtlCol="0" anchor="t"/>
          <a:lstStyle/>
          <a:p>
            <a:pPr algn="l" indent="0" marL="0">
              <a:lnSpc>
                <a:spcPts val="1950"/>
              </a:lnSpc>
              <a:buNone/>
            </a:pPr>
            <a:r>
              <a:rPr lang="en-US" sz="1200" dirty="0">
                <a:solidFill>
                  <a:srgbClr val="3B4E4E"/>
                </a:solidFill>
                <a:latin typeface="Syne Light" pitchFamily="34" charset="0"/>
                <a:ea typeface="Syne Light" pitchFamily="34" charset="-122"/>
                <a:cs typeface="Syne Light" pitchFamily="34" charset="-120"/>
              </a:rPr>
              <a:t>04</a:t>
            </a:r>
            <a:endParaRPr lang="en-US" sz="1200" dirty="0"/>
          </a:p>
        </p:txBody>
      </p:sp>
      <p:sp>
        <p:nvSpPr>
          <p:cNvPr id="20" name="Shape 16"/>
          <p:cNvSpPr/>
          <p:nvPr/>
        </p:nvSpPr>
        <p:spPr>
          <a:xfrm>
            <a:off x="629960" y="6348174"/>
            <a:ext cx="7884081" cy="22860"/>
          </a:xfrm>
          <a:prstGeom prst="rect">
            <a:avLst/>
          </a:prstGeom>
          <a:solidFill>
            <a:srgbClr val="224435"/>
          </a:solidFill>
          <a:ln/>
        </p:spPr>
      </p:sp>
      <p:sp>
        <p:nvSpPr>
          <p:cNvPr id="21" name="Text 17"/>
          <p:cNvSpPr/>
          <p:nvPr/>
        </p:nvSpPr>
        <p:spPr>
          <a:xfrm>
            <a:off x="629960" y="6472595"/>
            <a:ext cx="1968698" cy="246102"/>
          </a:xfrm>
          <a:prstGeom prst="rect">
            <a:avLst/>
          </a:prstGeom>
          <a:noFill/>
          <a:ln/>
        </p:spPr>
        <p:txBody>
          <a:bodyPr wrap="none" lIns="0" tIns="0" rIns="0" bIns="0" rtlCol="0" anchor="t"/>
          <a:lstStyle/>
          <a:p>
            <a:pPr algn="l" indent="0" marL="0">
              <a:lnSpc>
                <a:spcPts val="1900"/>
              </a:lnSpc>
              <a:buNone/>
            </a:pPr>
            <a:r>
              <a:rPr lang="en-US" sz="1550" b="1" dirty="0">
                <a:solidFill>
                  <a:srgbClr val="3B4E4E"/>
                </a:solidFill>
                <a:latin typeface="Syne Bold" pitchFamily="34" charset="0"/>
                <a:ea typeface="Syne Bold" pitchFamily="34" charset="-122"/>
                <a:cs typeface="Syne Bold" pitchFamily="34" charset="-120"/>
              </a:rPr>
              <a:t>Visualization</a:t>
            </a:r>
            <a:endParaRPr lang="en-US" sz="1550" dirty="0"/>
          </a:p>
        </p:txBody>
      </p:sp>
      <p:sp>
        <p:nvSpPr>
          <p:cNvPr id="22" name="Text 18"/>
          <p:cNvSpPr/>
          <p:nvPr/>
        </p:nvSpPr>
        <p:spPr>
          <a:xfrm>
            <a:off x="629960" y="6813113"/>
            <a:ext cx="7884081" cy="251936"/>
          </a:xfrm>
          <a:prstGeom prst="rect">
            <a:avLst/>
          </a:prstGeom>
          <a:noFill/>
          <a:ln/>
        </p:spPr>
        <p:txBody>
          <a:bodyPr wrap="none" lIns="0" tIns="0" rIns="0" bIns="0" rtlCol="0" anchor="t"/>
          <a:lstStyle/>
          <a:p>
            <a:pPr algn="l" indent="0" marL="0">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Power BI dashboard creation for interactive stakeholder engagement and decision-making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166574" y="601742"/>
            <a:ext cx="952143" cy="334804"/>
          </a:xfrm>
          <a:prstGeom prst="roundRect">
            <a:avLst>
              <a:gd name="adj" fmla="val 17073"/>
            </a:avLst>
          </a:prstGeom>
          <a:noFill/>
          <a:ln w="7620">
            <a:solidFill>
              <a:srgbClr val="224435"/>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76231" y="701040"/>
            <a:ext cx="136088" cy="136088"/>
          </a:xfrm>
          <a:prstGeom prst="rect">
            <a:avLst/>
          </a:prstGeom>
        </p:spPr>
      </p:pic>
      <p:sp>
        <p:nvSpPr>
          <p:cNvPr id="4" name="Text 1"/>
          <p:cNvSpPr/>
          <p:nvPr/>
        </p:nvSpPr>
        <p:spPr>
          <a:xfrm>
            <a:off x="1480304" y="660321"/>
            <a:ext cx="528757" cy="217646"/>
          </a:xfrm>
          <a:prstGeom prst="rect">
            <a:avLst/>
          </a:prstGeom>
          <a:noFill/>
          <a:ln/>
        </p:spPr>
        <p:txBody>
          <a:bodyPr wrap="none" lIns="0" tIns="0" rIns="0" bIns="0" rtlCol="0" anchor="t"/>
          <a:lstStyle/>
          <a:p>
            <a:pPr algn="l" indent="0" marL="0">
              <a:lnSpc>
                <a:spcPts val="1700"/>
              </a:lnSpc>
              <a:buNone/>
            </a:pPr>
            <a:r>
              <a:rPr lang="en-US" sz="1050" dirty="0">
                <a:solidFill>
                  <a:srgbClr val="224435"/>
                </a:solidFill>
                <a:latin typeface="Overpass Light" pitchFamily="34" charset="0"/>
                <a:ea typeface="Overpass Light" pitchFamily="34" charset="-122"/>
                <a:cs typeface="Overpass Light" pitchFamily="34" charset="-120"/>
              </a:rPr>
              <a:t>PYTHON</a:t>
            </a:r>
            <a:endParaRPr lang="en-US" sz="1050" dirty="0"/>
          </a:p>
        </p:txBody>
      </p:sp>
      <p:sp>
        <p:nvSpPr>
          <p:cNvPr id="5" name="Text 2"/>
          <p:cNvSpPr/>
          <p:nvPr/>
        </p:nvSpPr>
        <p:spPr>
          <a:xfrm>
            <a:off x="1166574" y="1004530"/>
            <a:ext cx="8831342" cy="531614"/>
          </a:xfrm>
          <a:prstGeom prst="rect">
            <a:avLst/>
          </a:prstGeom>
          <a:noFill/>
          <a:ln/>
        </p:spPr>
        <p:txBody>
          <a:bodyPr wrap="none" lIns="0" tIns="0" rIns="0" bIns="0" rtlCol="0" anchor="t"/>
          <a:lstStyle/>
          <a:p>
            <a:pPr algn="l" indent="0" marL="0">
              <a:lnSpc>
                <a:spcPts val="4150"/>
              </a:lnSpc>
              <a:buNone/>
            </a:pPr>
            <a:r>
              <a:rPr lang="en-US" sz="3300" b="1" dirty="0">
                <a:solidFill>
                  <a:srgbClr val="233939"/>
                </a:solidFill>
                <a:latin typeface="Syne Bold" pitchFamily="34" charset="0"/>
                <a:ea typeface="Syne Bold" pitchFamily="34" charset="-122"/>
                <a:cs typeface="Syne Bold" pitchFamily="34" charset="-120"/>
              </a:rPr>
              <a:t>Data Preparation &amp; Quality Assurance</a:t>
            </a:r>
            <a:endParaRPr lang="en-US" sz="3300" dirty="0"/>
          </a:p>
        </p:txBody>
      </p:sp>
      <p:sp>
        <p:nvSpPr>
          <p:cNvPr id="6" name="Text 3"/>
          <p:cNvSpPr/>
          <p:nvPr/>
        </p:nvSpPr>
        <p:spPr>
          <a:xfrm>
            <a:off x="1166574" y="1791295"/>
            <a:ext cx="12297251" cy="544354"/>
          </a:xfrm>
          <a:prstGeom prst="rect">
            <a:avLst/>
          </a:prstGeom>
          <a:noFill/>
          <a:ln/>
        </p:spPr>
        <p:txBody>
          <a:bodyPr wrap="square" lIns="0" tIns="0" rIns="0" bIns="0" rtlCol="0" anchor="t"/>
          <a:lstStyle/>
          <a:p>
            <a:pPr algn="l" indent="0" marL="0">
              <a:lnSpc>
                <a:spcPts val="2100"/>
              </a:lnSpc>
              <a:buNone/>
            </a:pPr>
            <a:r>
              <a:rPr lang="en-US" sz="1300" dirty="0">
                <a:solidFill>
                  <a:srgbClr val="3B4E4E"/>
                </a:solidFill>
                <a:latin typeface="Overpass Light" pitchFamily="34" charset="0"/>
                <a:ea typeface="Overpass Light" pitchFamily="34" charset="-122"/>
                <a:cs typeface="Overpass Light" pitchFamily="34" charset="-120"/>
              </a:rPr>
              <a:t>Before diving into SQL analysis, we used Python (Pandas) to clean, validate, and structure the raw data. This ensured the insights generated later were accurate and consistent. The process involved loading </a:t>
            </a:r>
            <a:pPr algn="l" indent="0" marL="0">
              <a:lnSpc>
                <a:spcPts val="2100"/>
              </a:lnSpc>
              <a:buNone/>
            </a:pPr>
            <a:r>
              <a:rPr lang="en-US" sz="1300" b="1" dirty="0">
                <a:solidFill>
                  <a:srgbClr val="3B4E4E"/>
                </a:solidFill>
                <a:latin typeface="Overpass Light" pitchFamily="34" charset="0"/>
                <a:ea typeface="Overpass Light" pitchFamily="34" charset="-122"/>
                <a:cs typeface="Overpass Light" pitchFamily="34" charset="-120"/>
              </a:rPr>
              <a:t>3,900 records across 18 columns</a:t>
            </a:r>
            <a:pPr algn="l" indent="0" marL="0">
              <a:lnSpc>
                <a:spcPts val="2100"/>
              </a:lnSpc>
              <a:buNone/>
            </a:pPr>
            <a:r>
              <a:rPr lang="en-US" sz="1300" dirty="0">
                <a:solidFill>
                  <a:srgbClr val="3B4E4E"/>
                </a:solidFill>
                <a:latin typeface="Overpass Light" pitchFamily="34" charset="0"/>
                <a:ea typeface="Overpass Light" pitchFamily="34" charset="-122"/>
                <a:cs typeface="Overpass Light" pitchFamily="34" charset="-120"/>
              </a:rPr>
              <a:t> from the customer_shopping_behavior.csv dataset.</a:t>
            </a:r>
            <a:endParaRPr lang="en-US" sz="1300" dirty="0"/>
          </a:p>
        </p:txBody>
      </p:sp>
      <p:sp>
        <p:nvSpPr>
          <p:cNvPr id="7" name="Shape 4"/>
          <p:cNvSpPr/>
          <p:nvPr/>
        </p:nvSpPr>
        <p:spPr>
          <a:xfrm>
            <a:off x="1166574" y="2526983"/>
            <a:ext cx="3985736" cy="2492097"/>
          </a:xfrm>
          <a:prstGeom prst="roundRect">
            <a:avLst>
              <a:gd name="adj" fmla="val 2867"/>
            </a:avLst>
          </a:prstGeom>
          <a:solidFill>
            <a:srgbClr val="DDEEE6"/>
          </a:solidFill>
          <a:ln w="7620">
            <a:solidFill>
              <a:srgbClr val="C3D4CC"/>
            </a:solidFill>
            <a:prstDash val="solid"/>
          </a:ln>
        </p:spPr>
      </p:sp>
      <p:sp>
        <p:nvSpPr>
          <p:cNvPr id="8" name="Shape 5"/>
          <p:cNvSpPr/>
          <p:nvPr/>
        </p:nvSpPr>
        <p:spPr>
          <a:xfrm>
            <a:off x="1344216" y="2704624"/>
            <a:ext cx="510302" cy="510302"/>
          </a:xfrm>
          <a:prstGeom prst="roundRect">
            <a:avLst>
              <a:gd name="adj" fmla="val 17917009"/>
            </a:avLst>
          </a:prstGeom>
          <a:solidFill>
            <a:srgbClr val="224435"/>
          </a:solidFill>
          <a:ln/>
        </p:spPr>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84590" y="2844879"/>
            <a:ext cx="229553" cy="229552"/>
          </a:xfrm>
          <a:prstGeom prst="rect">
            <a:avLst/>
          </a:prstGeom>
        </p:spPr>
      </p:pic>
      <p:sp>
        <p:nvSpPr>
          <p:cNvPr id="10" name="Text 6"/>
          <p:cNvSpPr/>
          <p:nvPr/>
        </p:nvSpPr>
        <p:spPr>
          <a:xfrm>
            <a:off x="1344216" y="3384947"/>
            <a:ext cx="2126456" cy="265747"/>
          </a:xfrm>
          <a:prstGeom prst="rect">
            <a:avLst/>
          </a:prstGeom>
          <a:noFill/>
          <a:ln/>
        </p:spPr>
        <p:txBody>
          <a:bodyPr wrap="none" lIns="0" tIns="0" rIns="0" bIns="0" rtlCol="0" anchor="t"/>
          <a:lstStyle/>
          <a:p>
            <a:pPr algn="l" indent="0" marL="0">
              <a:lnSpc>
                <a:spcPts val="2050"/>
              </a:lnSpc>
              <a:buNone/>
            </a:pPr>
            <a:r>
              <a:rPr lang="en-US" sz="1650" b="1" dirty="0">
                <a:solidFill>
                  <a:srgbClr val="3B4E4E"/>
                </a:solidFill>
                <a:latin typeface="Syne Bold" pitchFamily="34" charset="0"/>
                <a:ea typeface="Syne Bold" pitchFamily="34" charset="-122"/>
                <a:cs typeface="Syne Bold" pitchFamily="34" charset="-120"/>
              </a:rPr>
              <a:t>Initial Exploration</a:t>
            </a:r>
            <a:endParaRPr lang="en-US" sz="1650" dirty="0"/>
          </a:p>
        </p:txBody>
      </p:sp>
      <p:sp>
        <p:nvSpPr>
          <p:cNvPr id="11" name="Text 7"/>
          <p:cNvSpPr/>
          <p:nvPr/>
        </p:nvSpPr>
        <p:spPr>
          <a:xfrm>
            <a:off x="1344216" y="3752731"/>
            <a:ext cx="3630454" cy="1088708"/>
          </a:xfrm>
          <a:prstGeom prst="rect">
            <a:avLst/>
          </a:prstGeom>
          <a:noFill/>
          <a:ln/>
        </p:spPr>
        <p:txBody>
          <a:bodyPr wrap="square" lIns="0" tIns="0" rIns="0" bIns="0" rtlCol="0" anchor="t"/>
          <a:lstStyle/>
          <a:p>
            <a:pPr algn="l" indent="0" marL="0">
              <a:lnSpc>
                <a:spcPts val="2100"/>
              </a:lnSpc>
              <a:buNone/>
            </a:pPr>
            <a:r>
              <a:rPr lang="en-US" sz="1300" dirty="0">
                <a:solidFill>
                  <a:srgbClr val="3B4E4E"/>
                </a:solidFill>
                <a:latin typeface="Overpass Light" pitchFamily="34" charset="0"/>
                <a:ea typeface="Overpass Light" pitchFamily="34" charset="-122"/>
                <a:cs typeface="Overpass Light" pitchFamily="34" charset="-120"/>
              </a:rPr>
              <a:t>Ran df.info() and df.describe() to inspect data types, statistical distributions, and memory usage. Verified Age and Purchase Amount values fell within expected ranges.</a:t>
            </a:r>
            <a:endParaRPr lang="en-US" sz="1300" dirty="0"/>
          </a:p>
        </p:txBody>
      </p:sp>
      <p:sp>
        <p:nvSpPr>
          <p:cNvPr id="12" name="Shape 8"/>
          <p:cNvSpPr/>
          <p:nvPr/>
        </p:nvSpPr>
        <p:spPr>
          <a:xfrm>
            <a:off x="5322332" y="2526983"/>
            <a:ext cx="3985736" cy="2492097"/>
          </a:xfrm>
          <a:prstGeom prst="roundRect">
            <a:avLst>
              <a:gd name="adj" fmla="val 2867"/>
            </a:avLst>
          </a:prstGeom>
          <a:solidFill>
            <a:srgbClr val="DDEEE6"/>
          </a:solidFill>
          <a:ln w="7620">
            <a:solidFill>
              <a:srgbClr val="C3D4CC"/>
            </a:solidFill>
            <a:prstDash val="solid"/>
          </a:ln>
        </p:spPr>
      </p:sp>
      <p:sp>
        <p:nvSpPr>
          <p:cNvPr id="13" name="Shape 9"/>
          <p:cNvSpPr/>
          <p:nvPr/>
        </p:nvSpPr>
        <p:spPr>
          <a:xfrm>
            <a:off x="5499973" y="2704624"/>
            <a:ext cx="510302" cy="510302"/>
          </a:xfrm>
          <a:prstGeom prst="roundRect">
            <a:avLst>
              <a:gd name="adj" fmla="val 17917009"/>
            </a:avLst>
          </a:prstGeom>
          <a:solidFill>
            <a:srgbClr val="224435"/>
          </a:solidFill>
          <a:ln/>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40348" y="2844879"/>
            <a:ext cx="229553" cy="229552"/>
          </a:xfrm>
          <a:prstGeom prst="rect">
            <a:avLst/>
          </a:prstGeom>
        </p:spPr>
      </p:pic>
      <p:sp>
        <p:nvSpPr>
          <p:cNvPr id="15" name="Text 10"/>
          <p:cNvSpPr/>
          <p:nvPr/>
        </p:nvSpPr>
        <p:spPr>
          <a:xfrm>
            <a:off x="5499973" y="3384947"/>
            <a:ext cx="2556391" cy="265747"/>
          </a:xfrm>
          <a:prstGeom prst="rect">
            <a:avLst/>
          </a:prstGeom>
          <a:noFill/>
          <a:ln/>
        </p:spPr>
        <p:txBody>
          <a:bodyPr wrap="none" lIns="0" tIns="0" rIns="0" bIns="0" rtlCol="0" anchor="t"/>
          <a:lstStyle/>
          <a:p>
            <a:pPr algn="l" indent="0" marL="0">
              <a:lnSpc>
                <a:spcPts val="2050"/>
              </a:lnSpc>
              <a:buNone/>
            </a:pPr>
            <a:r>
              <a:rPr lang="en-US" sz="1650" b="1" dirty="0">
                <a:solidFill>
                  <a:srgbClr val="3B4E4E"/>
                </a:solidFill>
                <a:latin typeface="Syne Bold" pitchFamily="34" charset="0"/>
                <a:ea typeface="Syne Bold" pitchFamily="34" charset="-122"/>
                <a:cs typeface="Syne Bold" pitchFamily="34" charset="-120"/>
              </a:rPr>
              <a:t>Missing Data Strategy</a:t>
            </a:r>
            <a:endParaRPr lang="en-US" sz="1650" dirty="0"/>
          </a:p>
        </p:txBody>
      </p:sp>
      <p:sp>
        <p:nvSpPr>
          <p:cNvPr id="16" name="Text 11"/>
          <p:cNvSpPr/>
          <p:nvPr/>
        </p:nvSpPr>
        <p:spPr>
          <a:xfrm>
            <a:off x="5499973" y="3752731"/>
            <a:ext cx="3630454" cy="1088708"/>
          </a:xfrm>
          <a:prstGeom prst="rect">
            <a:avLst/>
          </a:prstGeom>
          <a:noFill/>
          <a:ln/>
        </p:spPr>
        <p:txBody>
          <a:bodyPr wrap="square" lIns="0" tIns="0" rIns="0" bIns="0" rtlCol="0" anchor="t"/>
          <a:lstStyle/>
          <a:p>
            <a:pPr algn="l" indent="0" marL="0">
              <a:lnSpc>
                <a:spcPts val="2100"/>
              </a:lnSpc>
              <a:buNone/>
            </a:pPr>
            <a:r>
              <a:rPr lang="en-US" sz="1300" dirty="0">
                <a:solidFill>
                  <a:srgbClr val="3B4E4E"/>
                </a:solidFill>
                <a:latin typeface="Overpass Light" pitchFamily="34" charset="0"/>
                <a:ea typeface="Overpass Light" pitchFamily="34" charset="-122"/>
                <a:cs typeface="Overpass Light" pitchFamily="34" charset="-120"/>
              </a:rPr>
              <a:t>Identified 37 missing values in Review Rating column. Performed median imputation by product category to preserve dataset integrity without losing valuable sales data.</a:t>
            </a:r>
            <a:endParaRPr lang="en-US" sz="1300" dirty="0"/>
          </a:p>
        </p:txBody>
      </p:sp>
      <p:sp>
        <p:nvSpPr>
          <p:cNvPr id="17" name="Shape 12"/>
          <p:cNvSpPr/>
          <p:nvPr/>
        </p:nvSpPr>
        <p:spPr>
          <a:xfrm>
            <a:off x="9478089" y="2526983"/>
            <a:ext cx="3985736" cy="2492097"/>
          </a:xfrm>
          <a:prstGeom prst="roundRect">
            <a:avLst>
              <a:gd name="adj" fmla="val 2867"/>
            </a:avLst>
          </a:prstGeom>
          <a:solidFill>
            <a:srgbClr val="DDEEE6"/>
          </a:solidFill>
          <a:ln w="7620">
            <a:solidFill>
              <a:srgbClr val="C3D4CC"/>
            </a:solidFill>
            <a:prstDash val="solid"/>
          </a:ln>
        </p:spPr>
      </p:sp>
      <p:sp>
        <p:nvSpPr>
          <p:cNvPr id="18" name="Shape 13"/>
          <p:cNvSpPr/>
          <p:nvPr/>
        </p:nvSpPr>
        <p:spPr>
          <a:xfrm>
            <a:off x="9655731" y="2704624"/>
            <a:ext cx="510302" cy="510302"/>
          </a:xfrm>
          <a:prstGeom prst="roundRect">
            <a:avLst>
              <a:gd name="adj" fmla="val 17917009"/>
            </a:avLst>
          </a:prstGeom>
          <a:solidFill>
            <a:srgbClr val="224435"/>
          </a:solidFill>
          <a:ln/>
        </p:spPr>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96105" y="2844879"/>
            <a:ext cx="229553" cy="229552"/>
          </a:xfrm>
          <a:prstGeom prst="rect">
            <a:avLst/>
          </a:prstGeom>
        </p:spPr>
      </p:pic>
      <p:sp>
        <p:nvSpPr>
          <p:cNvPr id="20" name="Text 14"/>
          <p:cNvSpPr/>
          <p:nvPr/>
        </p:nvSpPr>
        <p:spPr>
          <a:xfrm>
            <a:off x="9655731" y="3384947"/>
            <a:ext cx="2862739" cy="265747"/>
          </a:xfrm>
          <a:prstGeom prst="rect">
            <a:avLst/>
          </a:prstGeom>
          <a:noFill/>
          <a:ln/>
        </p:spPr>
        <p:txBody>
          <a:bodyPr wrap="none" lIns="0" tIns="0" rIns="0" bIns="0" rtlCol="0" anchor="t"/>
          <a:lstStyle/>
          <a:p>
            <a:pPr algn="l" indent="0" marL="0">
              <a:lnSpc>
                <a:spcPts val="2050"/>
              </a:lnSpc>
              <a:buNone/>
            </a:pPr>
            <a:r>
              <a:rPr lang="en-US" sz="1650" b="1" dirty="0">
                <a:solidFill>
                  <a:srgbClr val="3B4E4E"/>
                </a:solidFill>
                <a:latin typeface="Syne Bold" pitchFamily="34" charset="0"/>
                <a:ea typeface="Syne Bold" pitchFamily="34" charset="-122"/>
                <a:cs typeface="Syne Bold" pitchFamily="34" charset="-120"/>
              </a:rPr>
              <a:t>Column Standardization</a:t>
            </a:r>
            <a:endParaRPr lang="en-US" sz="1650" dirty="0"/>
          </a:p>
        </p:txBody>
      </p:sp>
      <p:sp>
        <p:nvSpPr>
          <p:cNvPr id="21" name="Text 15"/>
          <p:cNvSpPr/>
          <p:nvPr/>
        </p:nvSpPr>
        <p:spPr>
          <a:xfrm>
            <a:off x="9655731" y="3752731"/>
            <a:ext cx="3630454" cy="1088708"/>
          </a:xfrm>
          <a:prstGeom prst="rect">
            <a:avLst/>
          </a:prstGeom>
          <a:noFill/>
          <a:ln/>
        </p:spPr>
        <p:txBody>
          <a:bodyPr wrap="square" lIns="0" tIns="0" rIns="0" bIns="0" rtlCol="0" anchor="t"/>
          <a:lstStyle/>
          <a:p>
            <a:pPr algn="l" indent="0" marL="0">
              <a:lnSpc>
                <a:spcPts val="2100"/>
              </a:lnSpc>
              <a:buNone/>
            </a:pPr>
            <a:r>
              <a:rPr lang="en-US" sz="1300" dirty="0">
                <a:solidFill>
                  <a:srgbClr val="3B4E4E"/>
                </a:solidFill>
                <a:latin typeface="Overpass Light" pitchFamily="34" charset="0"/>
                <a:ea typeface="Overpass Light" pitchFamily="34" charset="-122"/>
                <a:cs typeface="Overpass Light" pitchFamily="34" charset="-120"/>
              </a:rPr>
              <a:t>Renamed all columns to snake_case format (e.g., item_purchased, purchase_amount) for PostgreSQL compatibility and easier code maintenance.</a:t>
            </a:r>
            <a:endParaRPr lang="en-US" sz="1300" dirty="0"/>
          </a:p>
        </p:txBody>
      </p:sp>
      <p:sp>
        <p:nvSpPr>
          <p:cNvPr id="22" name="Text 16"/>
          <p:cNvSpPr/>
          <p:nvPr/>
        </p:nvSpPr>
        <p:spPr>
          <a:xfrm>
            <a:off x="1166574" y="5380434"/>
            <a:ext cx="2343983" cy="265747"/>
          </a:xfrm>
          <a:prstGeom prst="rect">
            <a:avLst/>
          </a:prstGeom>
          <a:noFill/>
          <a:ln/>
        </p:spPr>
        <p:txBody>
          <a:bodyPr wrap="none" lIns="0" tIns="0" rIns="0" bIns="0" rtlCol="0" anchor="t"/>
          <a:lstStyle/>
          <a:p>
            <a:pPr algn="l" indent="0" marL="0">
              <a:lnSpc>
                <a:spcPts val="2050"/>
              </a:lnSpc>
              <a:buNone/>
            </a:pPr>
            <a:r>
              <a:rPr lang="en-US" sz="1650" b="1" dirty="0">
                <a:solidFill>
                  <a:srgbClr val="233939"/>
                </a:solidFill>
                <a:latin typeface="Syne Bold" pitchFamily="34" charset="0"/>
                <a:ea typeface="Syne Bold" pitchFamily="34" charset="-122"/>
                <a:cs typeface="Syne Bold" pitchFamily="34" charset="-120"/>
              </a:rPr>
              <a:t>Feature Engineering</a:t>
            </a:r>
            <a:endParaRPr lang="en-US" sz="1650" dirty="0"/>
          </a:p>
        </p:txBody>
      </p:sp>
      <p:sp>
        <p:nvSpPr>
          <p:cNvPr id="23" name="Text 17"/>
          <p:cNvSpPr/>
          <p:nvPr/>
        </p:nvSpPr>
        <p:spPr>
          <a:xfrm>
            <a:off x="1166574" y="5816203"/>
            <a:ext cx="5941100" cy="544354"/>
          </a:xfrm>
          <a:prstGeom prst="rect">
            <a:avLst/>
          </a:prstGeom>
          <a:noFill/>
          <a:ln/>
        </p:spPr>
        <p:txBody>
          <a:bodyPr wrap="square" lIns="0" tIns="0" rIns="0" bIns="0" rtlCol="0" anchor="t"/>
          <a:lstStyle/>
          <a:p>
            <a:pPr algn="l" marL="342900" indent="-342900">
              <a:lnSpc>
                <a:spcPts val="2100"/>
              </a:lnSpc>
              <a:buSzPct val="100000"/>
              <a:buChar char="•"/>
            </a:pPr>
            <a:r>
              <a:rPr lang="en-US" sz="1300" dirty="0">
                <a:solidFill>
                  <a:srgbClr val="3B4E4E"/>
                </a:solidFill>
                <a:latin typeface="Overpass Light" pitchFamily="34" charset="0"/>
                <a:ea typeface="Overpass Light" pitchFamily="34" charset="-122"/>
                <a:cs typeface="Overpass Light" pitchFamily="34" charset="-120"/>
              </a:rPr>
              <a:t>Created age_group column binning ages into Young Adult (&lt;25), Adult (25-40), Middle-Aged (41-60), and Senior (&gt;60)</a:t>
            </a:r>
            <a:endParaRPr lang="en-US" sz="1300" dirty="0"/>
          </a:p>
        </p:txBody>
      </p:sp>
      <p:sp>
        <p:nvSpPr>
          <p:cNvPr id="24" name="Text 18"/>
          <p:cNvSpPr/>
          <p:nvPr/>
        </p:nvSpPr>
        <p:spPr>
          <a:xfrm>
            <a:off x="1166574" y="6420088"/>
            <a:ext cx="5941100" cy="544354"/>
          </a:xfrm>
          <a:prstGeom prst="rect">
            <a:avLst/>
          </a:prstGeom>
          <a:noFill/>
          <a:ln/>
        </p:spPr>
        <p:txBody>
          <a:bodyPr wrap="square" lIns="0" tIns="0" rIns="0" bIns="0" rtlCol="0" anchor="t"/>
          <a:lstStyle/>
          <a:p>
            <a:pPr algn="l" marL="342900" indent="-342900">
              <a:lnSpc>
                <a:spcPts val="2100"/>
              </a:lnSpc>
              <a:buSzPct val="100000"/>
              <a:buChar char="•"/>
            </a:pPr>
            <a:r>
              <a:rPr lang="en-US" sz="1300" dirty="0">
                <a:solidFill>
                  <a:srgbClr val="3B4E4E"/>
                </a:solidFill>
                <a:latin typeface="Overpass Light" pitchFamily="34" charset="0"/>
                <a:ea typeface="Overpass Light" pitchFamily="34" charset="-122"/>
                <a:cs typeface="Overpass Light" pitchFamily="34" charset="-120"/>
              </a:rPr>
              <a:t>Derived purchase_frequency_days metric to identify customer return patterns</a:t>
            </a:r>
            <a:endParaRPr lang="en-US" sz="1300" dirty="0"/>
          </a:p>
        </p:txBody>
      </p:sp>
      <p:sp>
        <p:nvSpPr>
          <p:cNvPr id="25" name="Text 19"/>
          <p:cNvSpPr/>
          <p:nvPr/>
        </p:nvSpPr>
        <p:spPr>
          <a:xfrm>
            <a:off x="1166574" y="7023973"/>
            <a:ext cx="5941100" cy="544354"/>
          </a:xfrm>
          <a:prstGeom prst="rect">
            <a:avLst/>
          </a:prstGeom>
          <a:noFill/>
          <a:ln/>
        </p:spPr>
        <p:txBody>
          <a:bodyPr wrap="square" lIns="0" tIns="0" rIns="0" bIns="0" rtlCol="0" anchor="t"/>
          <a:lstStyle/>
          <a:p>
            <a:pPr algn="l" marL="342900" indent="-342900">
              <a:lnSpc>
                <a:spcPts val="2100"/>
              </a:lnSpc>
              <a:buSzPct val="100000"/>
              <a:buChar char="•"/>
            </a:pPr>
            <a:r>
              <a:rPr lang="en-US" sz="1300" dirty="0">
                <a:solidFill>
                  <a:srgbClr val="3B4E4E"/>
                </a:solidFill>
                <a:latin typeface="Overpass Light" pitchFamily="34" charset="0"/>
                <a:ea typeface="Overpass Light" pitchFamily="34" charset="-122"/>
                <a:cs typeface="Overpass Light" pitchFamily="34" charset="-120"/>
              </a:rPr>
              <a:t>Dropped redundant promo_code_used column after confirming it duplicated discount_applied information</a:t>
            </a:r>
            <a:endParaRPr lang="en-US" sz="1300" dirty="0"/>
          </a:p>
        </p:txBody>
      </p:sp>
      <p:sp>
        <p:nvSpPr>
          <p:cNvPr id="26" name="Text 20"/>
          <p:cNvSpPr/>
          <p:nvPr/>
        </p:nvSpPr>
        <p:spPr>
          <a:xfrm>
            <a:off x="7530346" y="5380434"/>
            <a:ext cx="2488287" cy="265747"/>
          </a:xfrm>
          <a:prstGeom prst="rect">
            <a:avLst/>
          </a:prstGeom>
          <a:noFill/>
          <a:ln/>
        </p:spPr>
        <p:txBody>
          <a:bodyPr wrap="none" lIns="0" tIns="0" rIns="0" bIns="0" rtlCol="0" anchor="t"/>
          <a:lstStyle/>
          <a:p>
            <a:pPr algn="l" indent="0" marL="0">
              <a:lnSpc>
                <a:spcPts val="2050"/>
              </a:lnSpc>
              <a:buNone/>
            </a:pPr>
            <a:r>
              <a:rPr lang="en-US" sz="1650" b="1" dirty="0">
                <a:solidFill>
                  <a:srgbClr val="233939"/>
                </a:solidFill>
                <a:latin typeface="Syne Bold" pitchFamily="34" charset="0"/>
                <a:ea typeface="Syne Bold" pitchFamily="34" charset="-122"/>
                <a:cs typeface="Syne Bold" pitchFamily="34" charset="-120"/>
              </a:rPr>
              <a:t>Database Integration</a:t>
            </a:r>
            <a:endParaRPr lang="en-US" sz="1650" dirty="0"/>
          </a:p>
        </p:txBody>
      </p:sp>
      <p:sp>
        <p:nvSpPr>
          <p:cNvPr id="27" name="Text 21"/>
          <p:cNvSpPr/>
          <p:nvPr/>
        </p:nvSpPr>
        <p:spPr>
          <a:xfrm>
            <a:off x="7530346" y="5816203"/>
            <a:ext cx="5941100" cy="816531"/>
          </a:xfrm>
          <a:prstGeom prst="rect">
            <a:avLst/>
          </a:prstGeom>
          <a:noFill/>
          <a:ln/>
        </p:spPr>
        <p:txBody>
          <a:bodyPr wrap="square" lIns="0" tIns="0" rIns="0" bIns="0" rtlCol="0" anchor="t"/>
          <a:lstStyle/>
          <a:p>
            <a:pPr algn="l" indent="0" marL="0">
              <a:lnSpc>
                <a:spcPts val="2100"/>
              </a:lnSpc>
              <a:buNone/>
            </a:pPr>
            <a:r>
              <a:rPr lang="en-US" sz="1300" dirty="0">
                <a:solidFill>
                  <a:srgbClr val="3B4E4E"/>
                </a:solidFill>
                <a:latin typeface="Overpass Light" pitchFamily="34" charset="0"/>
                <a:ea typeface="Overpass Light" pitchFamily="34" charset="-122"/>
                <a:cs typeface="Overpass Light" pitchFamily="34" charset="-120"/>
              </a:rPr>
              <a:t>Established connection to PostgreSQL using SQLAlchemy and psycopg2. Loaded the fully cleaned DataFrame directly into a SQL table named "customer", making it ready for complex querying and analysis.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928330" y="486608"/>
            <a:ext cx="1344930" cy="332065"/>
          </a:xfrm>
          <a:prstGeom prst="roundRect">
            <a:avLst>
              <a:gd name="adj" fmla="val 17881"/>
            </a:avLst>
          </a:prstGeom>
          <a:solidFill>
            <a:srgbClr val="DDEEE6"/>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34296" y="581978"/>
            <a:ext cx="141327" cy="141327"/>
          </a:xfrm>
          <a:prstGeom prst="rect">
            <a:avLst/>
          </a:prstGeom>
        </p:spPr>
      </p:pic>
      <p:sp>
        <p:nvSpPr>
          <p:cNvPr id="4" name="Text 1"/>
          <p:cNvSpPr/>
          <p:nvPr/>
        </p:nvSpPr>
        <p:spPr>
          <a:xfrm>
            <a:off x="1246227" y="539591"/>
            <a:ext cx="921068" cy="226100"/>
          </a:xfrm>
          <a:prstGeom prst="rect">
            <a:avLst/>
          </a:prstGeom>
          <a:noFill/>
          <a:ln/>
        </p:spPr>
        <p:txBody>
          <a:bodyPr wrap="none" lIns="0" tIns="0" rIns="0" bIns="0" rtlCol="0" anchor="t"/>
          <a:lstStyle/>
          <a:p>
            <a:pPr algn="l" indent="0" marL="0">
              <a:lnSpc>
                <a:spcPts val="1750"/>
              </a:lnSpc>
              <a:buNone/>
            </a:pPr>
            <a:r>
              <a:rPr lang="en-US" sz="1100" dirty="0">
                <a:solidFill>
                  <a:srgbClr val="3B4E4E"/>
                </a:solidFill>
                <a:latin typeface="Overpass Light" pitchFamily="34" charset="0"/>
                <a:ea typeface="Overpass Light" pitchFamily="34" charset="-122"/>
                <a:cs typeface="Overpass Light" pitchFamily="34" charset="-120"/>
              </a:rPr>
              <a:t>SQL ANALYSIS</a:t>
            </a:r>
            <a:endParaRPr lang="en-US" sz="1100" dirty="0"/>
          </a:p>
        </p:txBody>
      </p:sp>
      <p:sp>
        <p:nvSpPr>
          <p:cNvPr id="5" name="Text 2"/>
          <p:cNvSpPr/>
          <p:nvPr/>
        </p:nvSpPr>
        <p:spPr>
          <a:xfrm>
            <a:off x="928330" y="893683"/>
            <a:ext cx="8627745" cy="552212"/>
          </a:xfrm>
          <a:prstGeom prst="rect">
            <a:avLst/>
          </a:prstGeom>
          <a:noFill/>
          <a:ln/>
        </p:spPr>
        <p:txBody>
          <a:bodyPr wrap="none" lIns="0" tIns="0" rIns="0" bIns="0" rtlCol="0" anchor="t"/>
          <a:lstStyle/>
          <a:p>
            <a:pPr algn="l" indent="0" marL="0">
              <a:lnSpc>
                <a:spcPts val="4300"/>
              </a:lnSpc>
              <a:buNone/>
            </a:pPr>
            <a:r>
              <a:rPr lang="en-US" sz="3450" b="1" dirty="0">
                <a:solidFill>
                  <a:srgbClr val="233939"/>
                </a:solidFill>
                <a:latin typeface="Syne Bold" pitchFamily="34" charset="0"/>
                <a:ea typeface="Syne Bold" pitchFamily="34" charset="-122"/>
                <a:cs typeface="Syne Bold" pitchFamily="34" charset="-120"/>
              </a:rPr>
              <a:t>Revenue Analysis by Demographics</a:t>
            </a:r>
            <a:endParaRPr lang="en-US" sz="3450" dirty="0"/>
          </a:p>
        </p:txBody>
      </p:sp>
      <p:sp>
        <p:nvSpPr>
          <p:cNvPr id="6" name="Text 3"/>
          <p:cNvSpPr/>
          <p:nvPr/>
        </p:nvSpPr>
        <p:spPr>
          <a:xfrm>
            <a:off x="928330" y="1887617"/>
            <a:ext cx="5228987" cy="331232"/>
          </a:xfrm>
          <a:prstGeom prst="rect">
            <a:avLst/>
          </a:prstGeom>
          <a:noFill/>
          <a:ln/>
        </p:spPr>
        <p:txBody>
          <a:bodyPr wrap="none" lIns="0" tIns="0" rIns="0" bIns="0" rtlCol="0" anchor="t"/>
          <a:lstStyle/>
          <a:p>
            <a:pPr algn="l" indent="0" marL="0">
              <a:lnSpc>
                <a:spcPts val="2600"/>
              </a:lnSpc>
              <a:buNone/>
            </a:pPr>
            <a:r>
              <a:rPr lang="en-US" sz="2050" b="1" dirty="0">
                <a:solidFill>
                  <a:srgbClr val="233939"/>
                </a:solidFill>
                <a:latin typeface="Syne Bold" pitchFamily="34" charset="0"/>
                <a:ea typeface="Syne Bold" pitchFamily="34" charset="-122"/>
                <a:cs typeface="Syne Bold" pitchFamily="34" charset="-120"/>
              </a:rPr>
              <a:t>Gender-Based Revenue Distribution</a:t>
            </a:r>
            <a:endParaRPr lang="en-US" sz="2050" dirty="0"/>
          </a:p>
        </p:txBody>
      </p:sp>
      <p:sp>
        <p:nvSpPr>
          <p:cNvPr id="7" name="Text 4"/>
          <p:cNvSpPr/>
          <p:nvPr/>
        </p:nvSpPr>
        <p:spPr>
          <a:xfrm>
            <a:off x="928330" y="2395538"/>
            <a:ext cx="7491770" cy="1130618"/>
          </a:xfrm>
          <a:prstGeom prst="rect">
            <a:avLst/>
          </a:prstGeom>
          <a:noFill/>
          <a:ln/>
        </p:spPr>
        <p:txBody>
          <a:bodyPr wrap="square" lIns="0" tIns="0" rIns="0" bIns="0" rtlCol="0" anchor="t"/>
          <a:lstStyle/>
          <a:p>
            <a:pPr algn="l"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Analysis of spending power reveals significant differences between male and female customers. Male customers generated </a:t>
            </a:r>
            <a:pPr algn="l" indent="0" marL="0">
              <a:lnSpc>
                <a:spcPts val="2200"/>
              </a:lnSpc>
              <a:buNone/>
            </a:pPr>
            <a:r>
              <a:rPr lang="en-US" sz="1350" b="1" dirty="0">
                <a:solidFill>
                  <a:srgbClr val="3B4E4E"/>
                </a:solidFill>
                <a:latin typeface="Overpass Light" pitchFamily="34" charset="0"/>
                <a:ea typeface="Overpass Light" pitchFamily="34" charset="-122"/>
                <a:cs typeface="Overpass Light" pitchFamily="34" charset="-120"/>
              </a:rPr>
              <a:t>$157,890</a:t>
            </a:r>
            <a:pPr algn="l"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 in total revenue, more than double the </a:t>
            </a:r>
            <a:pPr algn="l" indent="0" marL="0">
              <a:lnSpc>
                <a:spcPts val="2200"/>
              </a:lnSpc>
              <a:buNone/>
            </a:pPr>
            <a:r>
              <a:rPr lang="en-US" sz="1350" b="1" dirty="0">
                <a:solidFill>
                  <a:srgbClr val="3B4E4E"/>
                </a:solidFill>
                <a:latin typeface="Overpass Light" pitchFamily="34" charset="0"/>
                <a:ea typeface="Overpass Light" pitchFamily="34" charset="-122"/>
                <a:cs typeface="Overpass Light" pitchFamily="34" charset="-120"/>
              </a:rPr>
              <a:t>$75,191</a:t>
            </a:r>
            <a:pPr algn="l"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 contributed by female customers. This 68% vs 32% split suggests opportunities for targeted marketing strategies.</a:t>
            </a:r>
            <a:endParaRPr lang="en-US" sz="1350" dirty="0"/>
          </a:p>
        </p:txBody>
      </p:sp>
      <p:sp>
        <p:nvSpPr>
          <p:cNvPr id="8" name="Text 5"/>
          <p:cNvSpPr/>
          <p:nvPr/>
        </p:nvSpPr>
        <p:spPr>
          <a:xfrm>
            <a:off x="928330" y="3702844"/>
            <a:ext cx="3059073" cy="275987"/>
          </a:xfrm>
          <a:prstGeom prst="rect">
            <a:avLst/>
          </a:prstGeom>
          <a:noFill/>
          <a:ln/>
        </p:spPr>
        <p:txBody>
          <a:bodyPr wrap="none" lIns="0" tIns="0" rIns="0" bIns="0" rtlCol="0" anchor="t"/>
          <a:lstStyle/>
          <a:p>
            <a:pPr algn="l" indent="0" marL="0">
              <a:lnSpc>
                <a:spcPts val="2150"/>
              </a:lnSpc>
              <a:buNone/>
            </a:pPr>
            <a:r>
              <a:rPr lang="en-US" sz="1700" b="1" dirty="0">
                <a:solidFill>
                  <a:srgbClr val="233939"/>
                </a:solidFill>
                <a:latin typeface="Syne Bold" pitchFamily="34" charset="0"/>
                <a:ea typeface="Syne Bold" pitchFamily="34" charset="-122"/>
                <a:cs typeface="Syne Bold" pitchFamily="34" charset="-120"/>
              </a:rPr>
              <a:t>Key SQL Query Approach</a:t>
            </a:r>
            <a:endParaRPr lang="en-US" sz="1700" dirty="0"/>
          </a:p>
        </p:txBody>
      </p:sp>
      <p:sp>
        <p:nvSpPr>
          <p:cNvPr id="9" name="Text 6"/>
          <p:cNvSpPr/>
          <p:nvPr/>
        </p:nvSpPr>
        <p:spPr>
          <a:xfrm>
            <a:off x="928330" y="4155519"/>
            <a:ext cx="7491770" cy="565309"/>
          </a:xfrm>
          <a:prstGeom prst="rect">
            <a:avLst/>
          </a:prstGeom>
          <a:noFill/>
          <a:ln/>
        </p:spPr>
        <p:txBody>
          <a:bodyPr wrap="square" lIns="0" tIns="0" rIns="0" bIns="0" rtlCol="0" anchor="t"/>
          <a:lstStyle/>
          <a:p>
            <a:pPr algn="l"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Used GROUP BY aggregation to sum purchase amounts by gender, providing clear segmentation of revenue contribution across demographic groups.</a:t>
            </a:r>
            <a:endParaRPr lang="en-US" sz="1350" dirty="0"/>
          </a:p>
        </p:txBody>
      </p:sp>
      <p:sp>
        <p:nvSpPr>
          <p:cNvPr id="10" name="Text 7"/>
          <p:cNvSpPr/>
          <p:nvPr/>
        </p:nvSpPr>
        <p:spPr>
          <a:xfrm>
            <a:off x="8858726" y="1997988"/>
            <a:ext cx="4850844" cy="583049"/>
          </a:xfrm>
          <a:prstGeom prst="rect">
            <a:avLst/>
          </a:prstGeom>
          <a:noFill/>
          <a:ln/>
        </p:spPr>
        <p:txBody>
          <a:bodyPr wrap="none" lIns="0" tIns="0" rIns="0" bIns="0" rtlCol="0" anchor="t"/>
          <a:lstStyle/>
          <a:p>
            <a:pPr algn="ctr" indent="0" marL="0">
              <a:lnSpc>
                <a:spcPts val="4550"/>
              </a:lnSpc>
              <a:buNone/>
            </a:pPr>
            <a:r>
              <a:rPr lang="en-US" sz="4550" b="1" dirty="0">
                <a:solidFill>
                  <a:srgbClr val="3B4E4E"/>
                </a:solidFill>
                <a:latin typeface="Syne Bold" pitchFamily="34" charset="0"/>
                <a:ea typeface="Syne Bold" pitchFamily="34" charset="-122"/>
                <a:cs typeface="Syne Bold" pitchFamily="34" charset="-120"/>
              </a:rPr>
              <a:t>$158K</a:t>
            </a:r>
            <a:endParaRPr lang="en-US" sz="4550" dirty="0"/>
          </a:p>
        </p:txBody>
      </p:sp>
      <p:sp>
        <p:nvSpPr>
          <p:cNvPr id="11" name="Text 8"/>
          <p:cNvSpPr/>
          <p:nvPr/>
        </p:nvSpPr>
        <p:spPr>
          <a:xfrm>
            <a:off x="10179725" y="2801898"/>
            <a:ext cx="2208848" cy="275987"/>
          </a:xfrm>
          <a:prstGeom prst="rect">
            <a:avLst/>
          </a:prstGeom>
          <a:noFill/>
          <a:ln/>
        </p:spPr>
        <p:txBody>
          <a:bodyPr wrap="none" lIns="0" tIns="0" rIns="0" bIns="0" rtlCol="0" anchor="t"/>
          <a:lstStyle/>
          <a:p>
            <a:pPr algn="ctr" indent="0" marL="0">
              <a:lnSpc>
                <a:spcPts val="2150"/>
              </a:lnSpc>
              <a:buNone/>
            </a:pPr>
            <a:r>
              <a:rPr lang="en-US" sz="1700" b="1" dirty="0">
                <a:solidFill>
                  <a:srgbClr val="3B4E4E"/>
                </a:solidFill>
                <a:latin typeface="Syne Bold" pitchFamily="34" charset="0"/>
                <a:ea typeface="Syne Bold" pitchFamily="34" charset="-122"/>
                <a:cs typeface="Syne Bold" pitchFamily="34" charset="-120"/>
              </a:rPr>
              <a:t>Male Revenue</a:t>
            </a:r>
            <a:endParaRPr lang="en-US" sz="1700" dirty="0"/>
          </a:p>
        </p:txBody>
      </p:sp>
      <p:sp>
        <p:nvSpPr>
          <p:cNvPr id="12" name="Text 9"/>
          <p:cNvSpPr/>
          <p:nvPr/>
        </p:nvSpPr>
        <p:spPr>
          <a:xfrm>
            <a:off x="8858726" y="3254573"/>
            <a:ext cx="4850844" cy="282654"/>
          </a:xfrm>
          <a:prstGeom prst="rect">
            <a:avLst/>
          </a:prstGeom>
          <a:noFill/>
          <a:ln/>
        </p:spPr>
        <p:txBody>
          <a:bodyPr wrap="none" lIns="0" tIns="0" rIns="0" bIns="0" rtlCol="0" anchor="t"/>
          <a:lstStyle/>
          <a:p>
            <a:pPr algn="ctr"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68% of total</a:t>
            </a:r>
            <a:endParaRPr lang="en-US" sz="1350" dirty="0"/>
          </a:p>
        </p:txBody>
      </p:sp>
      <p:sp>
        <p:nvSpPr>
          <p:cNvPr id="13" name="Text 10"/>
          <p:cNvSpPr/>
          <p:nvPr/>
        </p:nvSpPr>
        <p:spPr>
          <a:xfrm>
            <a:off x="8858726" y="3978950"/>
            <a:ext cx="4850844" cy="583049"/>
          </a:xfrm>
          <a:prstGeom prst="rect">
            <a:avLst/>
          </a:prstGeom>
          <a:noFill/>
          <a:ln/>
        </p:spPr>
        <p:txBody>
          <a:bodyPr wrap="none" lIns="0" tIns="0" rIns="0" bIns="0" rtlCol="0" anchor="t"/>
          <a:lstStyle/>
          <a:p>
            <a:pPr algn="ctr" indent="0" marL="0">
              <a:lnSpc>
                <a:spcPts val="4550"/>
              </a:lnSpc>
              <a:buNone/>
            </a:pPr>
            <a:r>
              <a:rPr lang="en-US" sz="4550" b="1" dirty="0">
                <a:solidFill>
                  <a:srgbClr val="3B4E4E"/>
                </a:solidFill>
                <a:latin typeface="Syne Bold" pitchFamily="34" charset="0"/>
                <a:ea typeface="Syne Bold" pitchFamily="34" charset="-122"/>
                <a:cs typeface="Syne Bold" pitchFamily="34" charset="-120"/>
              </a:rPr>
              <a:t>$75K</a:t>
            </a:r>
            <a:endParaRPr lang="en-US" sz="4550" dirty="0"/>
          </a:p>
        </p:txBody>
      </p:sp>
      <p:sp>
        <p:nvSpPr>
          <p:cNvPr id="14" name="Text 11"/>
          <p:cNvSpPr/>
          <p:nvPr/>
        </p:nvSpPr>
        <p:spPr>
          <a:xfrm>
            <a:off x="10179725" y="4782860"/>
            <a:ext cx="2208848" cy="275987"/>
          </a:xfrm>
          <a:prstGeom prst="rect">
            <a:avLst/>
          </a:prstGeom>
          <a:noFill/>
          <a:ln/>
        </p:spPr>
        <p:txBody>
          <a:bodyPr wrap="none" lIns="0" tIns="0" rIns="0" bIns="0" rtlCol="0" anchor="t"/>
          <a:lstStyle/>
          <a:p>
            <a:pPr algn="ctr" indent="0" marL="0">
              <a:lnSpc>
                <a:spcPts val="2150"/>
              </a:lnSpc>
              <a:buNone/>
            </a:pPr>
            <a:r>
              <a:rPr lang="en-US" sz="1700" b="1" dirty="0">
                <a:solidFill>
                  <a:srgbClr val="3B4E4E"/>
                </a:solidFill>
                <a:latin typeface="Syne Bold" pitchFamily="34" charset="0"/>
                <a:ea typeface="Syne Bold" pitchFamily="34" charset="-122"/>
                <a:cs typeface="Syne Bold" pitchFamily="34" charset="-120"/>
              </a:rPr>
              <a:t>Female Revenue</a:t>
            </a:r>
            <a:endParaRPr lang="en-US" sz="1700" dirty="0"/>
          </a:p>
        </p:txBody>
      </p:sp>
      <p:sp>
        <p:nvSpPr>
          <p:cNvPr id="15" name="Text 12"/>
          <p:cNvSpPr/>
          <p:nvPr/>
        </p:nvSpPr>
        <p:spPr>
          <a:xfrm>
            <a:off x="8858726" y="5235535"/>
            <a:ext cx="4850844" cy="282654"/>
          </a:xfrm>
          <a:prstGeom prst="rect">
            <a:avLst/>
          </a:prstGeom>
          <a:noFill/>
          <a:ln/>
        </p:spPr>
        <p:txBody>
          <a:bodyPr wrap="none" lIns="0" tIns="0" rIns="0" bIns="0" rtlCol="0" anchor="t"/>
          <a:lstStyle/>
          <a:p>
            <a:pPr algn="ctr"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32% of total</a:t>
            </a:r>
            <a:endParaRPr lang="en-US" sz="1350" dirty="0"/>
          </a:p>
        </p:txBody>
      </p:sp>
      <p:sp>
        <p:nvSpPr>
          <p:cNvPr id="16" name="Shape 13"/>
          <p:cNvSpPr/>
          <p:nvPr/>
        </p:nvSpPr>
        <p:spPr>
          <a:xfrm>
            <a:off x="928330" y="6003971"/>
            <a:ext cx="12773739" cy="29647"/>
          </a:xfrm>
          <a:prstGeom prst="rect">
            <a:avLst/>
          </a:prstGeom>
          <a:solidFill>
            <a:srgbClr val="3B4E4E">
              <a:alpha val="50000"/>
            </a:srgbClr>
          </a:solidFill>
          <a:ln/>
        </p:spPr>
      </p:sp>
      <p:sp>
        <p:nvSpPr>
          <p:cNvPr id="17" name="Text 14"/>
          <p:cNvSpPr/>
          <p:nvPr/>
        </p:nvSpPr>
        <p:spPr>
          <a:xfrm>
            <a:off x="928330" y="6298644"/>
            <a:ext cx="4557951" cy="331232"/>
          </a:xfrm>
          <a:prstGeom prst="rect">
            <a:avLst/>
          </a:prstGeom>
          <a:noFill/>
          <a:ln/>
        </p:spPr>
        <p:txBody>
          <a:bodyPr wrap="none" lIns="0" tIns="0" rIns="0" bIns="0" rtlCol="0" anchor="t"/>
          <a:lstStyle/>
          <a:p>
            <a:pPr algn="l" indent="0" marL="0">
              <a:lnSpc>
                <a:spcPts val="2600"/>
              </a:lnSpc>
              <a:buNone/>
            </a:pPr>
            <a:r>
              <a:rPr lang="en-US" sz="2050" b="1" dirty="0">
                <a:solidFill>
                  <a:srgbClr val="233939"/>
                </a:solidFill>
                <a:latin typeface="Syne Bold" pitchFamily="34" charset="0"/>
                <a:ea typeface="Syne Bold" pitchFamily="34" charset="-122"/>
                <a:cs typeface="Syne Bold" pitchFamily="34" charset="-120"/>
              </a:rPr>
              <a:t>Revenue by Age Group Analysis</a:t>
            </a:r>
            <a:endParaRPr lang="en-US" sz="2050" dirty="0"/>
          </a:p>
        </p:txBody>
      </p:sp>
      <p:sp>
        <p:nvSpPr>
          <p:cNvPr id="18" name="Text 15"/>
          <p:cNvSpPr/>
          <p:nvPr/>
        </p:nvSpPr>
        <p:spPr>
          <a:xfrm>
            <a:off x="928330" y="6894909"/>
            <a:ext cx="12773739" cy="847963"/>
          </a:xfrm>
          <a:prstGeom prst="rect">
            <a:avLst/>
          </a:prstGeom>
          <a:noFill/>
          <a:ln/>
        </p:spPr>
        <p:txBody>
          <a:bodyPr wrap="square" lIns="0" tIns="0" rIns="0" bIns="0" rtlCol="0" anchor="t"/>
          <a:lstStyle/>
          <a:p>
            <a:pPr algn="l"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Demographic segmentation reveals that </a:t>
            </a:r>
            <a:pPr algn="l" indent="0" marL="0">
              <a:lnSpc>
                <a:spcPts val="2200"/>
              </a:lnSpc>
              <a:buNone/>
            </a:pPr>
            <a:r>
              <a:rPr lang="en-US" sz="1350" b="1" dirty="0">
                <a:solidFill>
                  <a:srgbClr val="3B4E4E"/>
                </a:solidFill>
                <a:latin typeface="Overpass Light" pitchFamily="34" charset="0"/>
                <a:ea typeface="Overpass Light" pitchFamily="34" charset="-122"/>
                <a:cs typeface="Overpass Light" pitchFamily="34" charset="-120"/>
              </a:rPr>
              <a:t>Young Adults</a:t>
            </a:r>
            <a:pPr algn="l"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 (under 25) lead revenue generation at </a:t>
            </a:r>
            <a:pPr algn="l" indent="0" marL="0">
              <a:lnSpc>
                <a:spcPts val="2200"/>
              </a:lnSpc>
              <a:buNone/>
            </a:pPr>
            <a:r>
              <a:rPr lang="en-US" sz="1350" b="1" dirty="0">
                <a:solidFill>
                  <a:srgbClr val="3B4E4E"/>
                </a:solidFill>
                <a:latin typeface="Overpass Light" pitchFamily="34" charset="0"/>
                <a:ea typeface="Overpass Light" pitchFamily="34" charset="-122"/>
                <a:cs typeface="Overpass Light" pitchFamily="34" charset="-120"/>
              </a:rPr>
              <a:t>$62,143</a:t>
            </a:r>
            <a:pPr algn="l"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 followed closely by Middle-aged customers at $59,197. Adults (25-40) and Seniors contribute $55,978 and $55,763 respectively, showing relatively balanced spending across age groups with a slight skew toward younger demographics.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61987" y="714732"/>
            <a:ext cx="7820025" cy="1034653"/>
          </a:xfrm>
          <a:prstGeom prst="rect">
            <a:avLst/>
          </a:prstGeom>
          <a:noFill/>
          <a:ln/>
        </p:spPr>
        <p:txBody>
          <a:bodyPr wrap="square" lIns="0" tIns="0" rIns="0" bIns="0" rtlCol="0" anchor="t"/>
          <a:lstStyle/>
          <a:p>
            <a:pPr algn="l" indent="0" marL="0">
              <a:lnSpc>
                <a:spcPts val="4050"/>
              </a:lnSpc>
              <a:buNone/>
            </a:pPr>
            <a:r>
              <a:rPr lang="en-US" sz="3250" b="1" dirty="0">
                <a:solidFill>
                  <a:srgbClr val="233939"/>
                </a:solidFill>
                <a:latin typeface="Syne Bold" pitchFamily="34" charset="0"/>
                <a:ea typeface="Syne Bold" pitchFamily="34" charset="-122"/>
                <a:cs typeface="Syne Bold" pitchFamily="34" charset="-120"/>
              </a:rPr>
              <a:t>Discount Strategy &amp; High-Value Customer Behavior</a:t>
            </a:r>
            <a:endParaRPr lang="en-US" sz="3250" dirty="0"/>
          </a:p>
        </p:txBody>
      </p:sp>
      <p:sp>
        <p:nvSpPr>
          <p:cNvPr id="4" name="Shape 1"/>
          <p:cNvSpPr/>
          <p:nvPr/>
        </p:nvSpPr>
        <p:spPr>
          <a:xfrm>
            <a:off x="661987" y="2245876"/>
            <a:ext cx="3827264" cy="2277785"/>
          </a:xfrm>
          <a:prstGeom prst="roundRect">
            <a:avLst>
              <a:gd name="adj" fmla="val 4817"/>
            </a:avLst>
          </a:prstGeom>
          <a:solidFill>
            <a:srgbClr val="FFFDE6"/>
          </a:solidFill>
          <a:ln/>
        </p:spPr>
      </p:sp>
      <p:sp>
        <p:nvSpPr>
          <p:cNvPr id="5" name="Shape 2"/>
          <p:cNvSpPr/>
          <p:nvPr/>
        </p:nvSpPr>
        <p:spPr>
          <a:xfrm>
            <a:off x="661987" y="2223016"/>
            <a:ext cx="3827264" cy="91440"/>
          </a:xfrm>
          <a:prstGeom prst="roundRect">
            <a:avLst>
              <a:gd name="adj" fmla="val 76028"/>
            </a:avLst>
          </a:prstGeom>
          <a:solidFill>
            <a:srgbClr val="224435"/>
          </a:solidFill>
          <a:ln/>
        </p:spPr>
      </p:sp>
      <p:sp>
        <p:nvSpPr>
          <p:cNvPr id="6" name="Shape 3"/>
          <p:cNvSpPr/>
          <p:nvPr/>
        </p:nvSpPr>
        <p:spPr>
          <a:xfrm>
            <a:off x="2327315" y="1997631"/>
            <a:ext cx="496491" cy="496491"/>
          </a:xfrm>
          <a:prstGeom prst="roundRect">
            <a:avLst>
              <a:gd name="adj" fmla="val 184173"/>
            </a:avLst>
          </a:prstGeom>
          <a:solidFill>
            <a:srgbClr val="224435"/>
          </a:solidFill>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76262" y="2146459"/>
            <a:ext cx="198596" cy="198596"/>
          </a:xfrm>
          <a:prstGeom prst="rect">
            <a:avLst/>
          </a:prstGeom>
        </p:spPr>
      </p:pic>
      <p:sp>
        <p:nvSpPr>
          <p:cNvPr id="8" name="Text 4"/>
          <p:cNvSpPr/>
          <p:nvPr/>
        </p:nvSpPr>
        <p:spPr>
          <a:xfrm>
            <a:off x="850344" y="2659618"/>
            <a:ext cx="3450550" cy="517208"/>
          </a:xfrm>
          <a:prstGeom prst="rect">
            <a:avLst/>
          </a:prstGeom>
          <a:noFill/>
          <a:ln/>
        </p:spPr>
        <p:txBody>
          <a:bodyPr wrap="square" lIns="0" tIns="0" rIns="0" bIns="0" rtlCol="0" anchor="t"/>
          <a:lstStyle/>
          <a:p>
            <a:pPr algn="l" indent="0" marL="0">
              <a:lnSpc>
                <a:spcPts val="2000"/>
              </a:lnSpc>
              <a:buNone/>
            </a:pPr>
            <a:r>
              <a:rPr lang="en-US" sz="1600" b="1" dirty="0">
                <a:solidFill>
                  <a:srgbClr val="3B4E4E"/>
                </a:solidFill>
                <a:latin typeface="Syne Bold" pitchFamily="34" charset="0"/>
                <a:ea typeface="Syne Bold" pitchFamily="34" charset="-122"/>
                <a:cs typeface="Syne Bold" pitchFamily="34" charset="-120"/>
              </a:rPr>
              <a:t>Discount-Responsive Spenders</a:t>
            </a:r>
            <a:endParaRPr lang="en-US" sz="1600" dirty="0"/>
          </a:p>
        </p:txBody>
      </p:sp>
      <p:sp>
        <p:nvSpPr>
          <p:cNvPr id="9" name="Text 5"/>
          <p:cNvSpPr/>
          <p:nvPr/>
        </p:nvSpPr>
        <p:spPr>
          <a:xfrm>
            <a:off x="850344" y="3276124"/>
            <a:ext cx="3450550" cy="1059180"/>
          </a:xfrm>
          <a:prstGeom prst="rect">
            <a:avLst/>
          </a:prstGeom>
          <a:noFill/>
          <a:ln/>
        </p:spPr>
        <p:txBody>
          <a:bodyPr wrap="square" lIns="0" tIns="0" rIns="0" bIns="0" rtlCol="0" anchor="t"/>
          <a:lstStyle/>
          <a:p>
            <a:pPr algn="l" indent="0" marL="0">
              <a:lnSpc>
                <a:spcPts val="2050"/>
              </a:lnSpc>
              <a:buNone/>
            </a:pPr>
            <a:r>
              <a:rPr lang="en-US" sz="1300" dirty="0">
                <a:solidFill>
                  <a:srgbClr val="3B4E4E"/>
                </a:solidFill>
                <a:latin typeface="Overpass Light" pitchFamily="34" charset="0"/>
                <a:ea typeface="Overpass Light" pitchFamily="34" charset="-122"/>
                <a:cs typeface="Overpass Light" pitchFamily="34" charset="-120"/>
              </a:rPr>
              <a:t>Identified customers who used discounts but still spent above the average purchase amount of $59.76. This segment represents high-value customers responsive to promotions.</a:t>
            </a:r>
            <a:endParaRPr lang="en-US" sz="1300" dirty="0"/>
          </a:p>
        </p:txBody>
      </p:sp>
      <p:sp>
        <p:nvSpPr>
          <p:cNvPr id="10" name="Shape 6"/>
          <p:cNvSpPr/>
          <p:nvPr/>
        </p:nvSpPr>
        <p:spPr>
          <a:xfrm>
            <a:off x="4654748" y="2245876"/>
            <a:ext cx="3827264" cy="2277785"/>
          </a:xfrm>
          <a:prstGeom prst="roundRect">
            <a:avLst>
              <a:gd name="adj" fmla="val 4817"/>
            </a:avLst>
          </a:prstGeom>
          <a:solidFill>
            <a:srgbClr val="FFFDE6"/>
          </a:solidFill>
          <a:ln/>
        </p:spPr>
      </p:sp>
      <p:sp>
        <p:nvSpPr>
          <p:cNvPr id="11" name="Shape 7"/>
          <p:cNvSpPr/>
          <p:nvPr/>
        </p:nvSpPr>
        <p:spPr>
          <a:xfrm>
            <a:off x="4654748" y="2223016"/>
            <a:ext cx="3827264" cy="91440"/>
          </a:xfrm>
          <a:prstGeom prst="roundRect">
            <a:avLst>
              <a:gd name="adj" fmla="val 76028"/>
            </a:avLst>
          </a:prstGeom>
          <a:solidFill>
            <a:srgbClr val="224435"/>
          </a:solidFill>
          <a:ln/>
        </p:spPr>
      </p:sp>
      <p:sp>
        <p:nvSpPr>
          <p:cNvPr id="12" name="Shape 8"/>
          <p:cNvSpPr/>
          <p:nvPr/>
        </p:nvSpPr>
        <p:spPr>
          <a:xfrm>
            <a:off x="6320076" y="1997631"/>
            <a:ext cx="496491" cy="496491"/>
          </a:xfrm>
          <a:prstGeom prst="roundRect">
            <a:avLst>
              <a:gd name="adj" fmla="val 184173"/>
            </a:avLst>
          </a:prstGeom>
          <a:solidFill>
            <a:srgbClr val="224435"/>
          </a:solidFill>
          <a:ln/>
        </p:spPr>
      </p:sp>
      <p:pic>
        <p:nvPicPr>
          <p:cNvPr id="1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69023" y="2146459"/>
            <a:ext cx="198596" cy="198596"/>
          </a:xfrm>
          <a:prstGeom prst="rect">
            <a:avLst/>
          </a:prstGeom>
        </p:spPr>
      </p:pic>
      <p:sp>
        <p:nvSpPr>
          <p:cNvPr id="14" name="Text 9"/>
          <p:cNvSpPr/>
          <p:nvPr/>
        </p:nvSpPr>
        <p:spPr>
          <a:xfrm>
            <a:off x="4843105" y="2659618"/>
            <a:ext cx="2874526" cy="258604"/>
          </a:xfrm>
          <a:prstGeom prst="rect">
            <a:avLst/>
          </a:prstGeom>
          <a:noFill/>
          <a:ln/>
        </p:spPr>
        <p:txBody>
          <a:bodyPr wrap="none" lIns="0" tIns="0" rIns="0" bIns="0" rtlCol="0" anchor="t"/>
          <a:lstStyle/>
          <a:p>
            <a:pPr algn="l" indent="0" marL="0">
              <a:lnSpc>
                <a:spcPts val="2000"/>
              </a:lnSpc>
              <a:buNone/>
            </a:pPr>
            <a:r>
              <a:rPr lang="en-US" sz="1600" b="1" dirty="0">
                <a:solidFill>
                  <a:srgbClr val="3B4E4E"/>
                </a:solidFill>
                <a:latin typeface="Syne Bold" pitchFamily="34" charset="0"/>
                <a:ea typeface="Syne Bold" pitchFamily="34" charset="-122"/>
                <a:cs typeface="Syne Bold" pitchFamily="34" charset="-120"/>
              </a:rPr>
              <a:t>Top Discounted Products</a:t>
            </a:r>
            <a:endParaRPr lang="en-US" sz="1600" dirty="0"/>
          </a:p>
        </p:txBody>
      </p:sp>
      <p:sp>
        <p:nvSpPr>
          <p:cNvPr id="15" name="Text 10"/>
          <p:cNvSpPr/>
          <p:nvPr/>
        </p:nvSpPr>
        <p:spPr>
          <a:xfrm>
            <a:off x="4843105" y="3017520"/>
            <a:ext cx="3450550" cy="1059180"/>
          </a:xfrm>
          <a:prstGeom prst="rect">
            <a:avLst/>
          </a:prstGeom>
          <a:noFill/>
          <a:ln/>
        </p:spPr>
        <p:txBody>
          <a:bodyPr wrap="square" lIns="0" tIns="0" rIns="0" bIns="0" rtlCol="0" anchor="t"/>
          <a:lstStyle/>
          <a:p>
            <a:pPr algn="l" indent="0" marL="0">
              <a:lnSpc>
                <a:spcPts val="2050"/>
              </a:lnSpc>
              <a:buNone/>
            </a:pPr>
            <a:r>
              <a:rPr lang="en-US" sz="1300" dirty="0">
                <a:solidFill>
                  <a:srgbClr val="3B4E4E"/>
                </a:solidFill>
                <a:latin typeface="Overpass Light" pitchFamily="34" charset="0"/>
                <a:ea typeface="Overpass Light" pitchFamily="34" charset="-122"/>
                <a:cs typeface="Overpass Light" pitchFamily="34" charset="-120"/>
              </a:rPr>
              <a:t>Hats lead with 50% discount rate, followed by Sneakers and Coats at 49%, Sweaters at 48%, and Pants at 47%. These products rely heavily on promotional strategies.</a:t>
            </a:r>
            <a:endParaRPr lang="en-US" sz="1300" dirty="0"/>
          </a:p>
        </p:txBody>
      </p:sp>
      <p:sp>
        <p:nvSpPr>
          <p:cNvPr id="16" name="Shape 11"/>
          <p:cNvSpPr/>
          <p:nvPr/>
        </p:nvSpPr>
        <p:spPr>
          <a:xfrm>
            <a:off x="661987" y="4937403"/>
            <a:ext cx="7820025" cy="1489591"/>
          </a:xfrm>
          <a:prstGeom prst="roundRect">
            <a:avLst>
              <a:gd name="adj" fmla="val 7366"/>
            </a:avLst>
          </a:prstGeom>
          <a:solidFill>
            <a:srgbClr val="FFFDE6"/>
          </a:solidFill>
          <a:ln/>
        </p:spPr>
      </p:sp>
      <p:sp>
        <p:nvSpPr>
          <p:cNvPr id="17" name="Shape 12"/>
          <p:cNvSpPr/>
          <p:nvPr/>
        </p:nvSpPr>
        <p:spPr>
          <a:xfrm>
            <a:off x="661987" y="4914543"/>
            <a:ext cx="7820025" cy="91440"/>
          </a:xfrm>
          <a:prstGeom prst="roundRect">
            <a:avLst>
              <a:gd name="adj" fmla="val 76028"/>
            </a:avLst>
          </a:prstGeom>
          <a:solidFill>
            <a:srgbClr val="224435"/>
          </a:solidFill>
          <a:ln/>
        </p:spPr>
      </p:sp>
      <p:sp>
        <p:nvSpPr>
          <p:cNvPr id="18" name="Shape 13"/>
          <p:cNvSpPr/>
          <p:nvPr/>
        </p:nvSpPr>
        <p:spPr>
          <a:xfrm>
            <a:off x="4323755" y="4689158"/>
            <a:ext cx="496491" cy="496491"/>
          </a:xfrm>
          <a:prstGeom prst="roundRect">
            <a:avLst>
              <a:gd name="adj" fmla="val 184173"/>
            </a:avLst>
          </a:prstGeom>
          <a:solidFill>
            <a:srgbClr val="224435"/>
          </a:solidFill>
          <a:ln/>
        </p:spPr>
      </p:sp>
      <p:pic>
        <p:nvPicPr>
          <p:cNvPr id="1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72702" y="4837986"/>
            <a:ext cx="198596" cy="198596"/>
          </a:xfrm>
          <a:prstGeom prst="rect">
            <a:avLst/>
          </a:prstGeom>
        </p:spPr>
      </p:pic>
      <p:sp>
        <p:nvSpPr>
          <p:cNvPr id="20" name="Text 14"/>
          <p:cNvSpPr/>
          <p:nvPr/>
        </p:nvSpPr>
        <p:spPr>
          <a:xfrm>
            <a:off x="850344" y="5351145"/>
            <a:ext cx="2453640" cy="258604"/>
          </a:xfrm>
          <a:prstGeom prst="rect">
            <a:avLst/>
          </a:prstGeom>
          <a:noFill/>
          <a:ln/>
        </p:spPr>
        <p:txBody>
          <a:bodyPr wrap="none" lIns="0" tIns="0" rIns="0" bIns="0" rtlCol="0" anchor="t"/>
          <a:lstStyle/>
          <a:p>
            <a:pPr algn="l" indent="0" marL="0">
              <a:lnSpc>
                <a:spcPts val="2000"/>
              </a:lnSpc>
              <a:buNone/>
            </a:pPr>
            <a:r>
              <a:rPr lang="en-US" sz="1600" b="1" dirty="0">
                <a:solidFill>
                  <a:srgbClr val="3B4E4E"/>
                </a:solidFill>
                <a:latin typeface="Syne Bold" pitchFamily="34" charset="0"/>
                <a:ea typeface="Syne Bold" pitchFamily="34" charset="-122"/>
                <a:cs typeface="Syne Bold" pitchFamily="34" charset="-120"/>
              </a:rPr>
              <a:t>Strategic Opportunity</a:t>
            </a:r>
            <a:endParaRPr lang="en-US" sz="1600" dirty="0"/>
          </a:p>
        </p:txBody>
      </p:sp>
      <p:sp>
        <p:nvSpPr>
          <p:cNvPr id="21" name="Text 15"/>
          <p:cNvSpPr/>
          <p:nvPr/>
        </p:nvSpPr>
        <p:spPr>
          <a:xfrm>
            <a:off x="850344" y="5709047"/>
            <a:ext cx="7443311" cy="529590"/>
          </a:xfrm>
          <a:prstGeom prst="rect">
            <a:avLst/>
          </a:prstGeom>
          <a:noFill/>
          <a:ln/>
        </p:spPr>
        <p:txBody>
          <a:bodyPr wrap="square" lIns="0" tIns="0" rIns="0" bIns="0" rtlCol="0" anchor="t"/>
          <a:lstStyle/>
          <a:p>
            <a:pPr algn="l" indent="0" marL="0">
              <a:lnSpc>
                <a:spcPts val="2050"/>
              </a:lnSpc>
              <a:buNone/>
            </a:pPr>
            <a:r>
              <a:rPr lang="en-US" sz="1300" dirty="0">
                <a:solidFill>
                  <a:srgbClr val="3B4E4E"/>
                </a:solidFill>
                <a:latin typeface="Overpass Light" pitchFamily="34" charset="0"/>
                <a:ea typeface="Overpass Light" pitchFamily="34" charset="-122"/>
                <a:cs typeface="Overpass Light" pitchFamily="34" charset="-120"/>
              </a:rPr>
              <a:t>High-value customers still use discounts, suggesting targeted promotions could increase basket size further without sacrificing margin on full-price sales.</a:t>
            </a:r>
            <a:endParaRPr lang="en-US" sz="1300" dirty="0"/>
          </a:p>
        </p:txBody>
      </p:sp>
      <p:sp>
        <p:nvSpPr>
          <p:cNvPr id="22" name="Text 16"/>
          <p:cNvSpPr/>
          <p:nvPr/>
        </p:nvSpPr>
        <p:spPr>
          <a:xfrm>
            <a:off x="910233" y="6799183"/>
            <a:ext cx="7571780" cy="529590"/>
          </a:xfrm>
          <a:prstGeom prst="rect">
            <a:avLst/>
          </a:prstGeom>
          <a:noFill/>
          <a:ln/>
        </p:spPr>
        <p:txBody>
          <a:bodyPr wrap="square" lIns="0" tIns="0" rIns="0" bIns="0" rtlCol="0" anchor="t"/>
          <a:lstStyle/>
          <a:p>
            <a:pPr algn="l" indent="0" marL="0">
              <a:lnSpc>
                <a:spcPts val="2050"/>
              </a:lnSpc>
              <a:buNone/>
            </a:pPr>
            <a:r>
              <a:rPr lang="en-US" sz="1300" dirty="0">
                <a:solidFill>
                  <a:srgbClr val="3B4E4E"/>
                </a:solidFill>
                <a:latin typeface="Overpass Light" pitchFamily="34" charset="0"/>
                <a:ea typeface="Overpass Light" pitchFamily="34" charset="-122"/>
                <a:cs typeface="Overpass Light" pitchFamily="34" charset="-120"/>
              </a:rPr>
              <a:t>"Understanding which customers respond to discounts while maintaining high purchase values allows for precision marketing that maximizes both revenue and customer satisfaction."</a:t>
            </a:r>
            <a:endParaRPr lang="en-US" sz="1300" dirty="0"/>
          </a:p>
        </p:txBody>
      </p:sp>
      <p:sp>
        <p:nvSpPr>
          <p:cNvPr id="23" name="Shape 17"/>
          <p:cNvSpPr/>
          <p:nvPr/>
        </p:nvSpPr>
        <p:spPr>
          <a:xfrm>
            <a:off x="661987" y="6613088"/>
            <a:ext cx="22860" cy="901779"/>
          </a:xfrm>
          <a:prstGeom prst="rect">
            <a:avLst/>
          </a:prstGeom>
          <a:solidFill>
            <a:srgbClr val="224435"/>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996077" y="618053"/>
            <a:ext cx="2098000" cy="343853"/>
          </a:xfrm>
          <a:prstGeom prst="roundRect">
            <a:avLst>
              <a:gd name="adj" fmla="val 17085"/>
            </a:avLst>
          </a:prstGeom>
          <a:noFill/>
          <a:ln w="7620">
            <a:solidFill>
              <a:srgbClr val="224435"/>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591" y="720090"/>
            <a:ext cx="139779" cy="139779"/>
          </a:xfrm>
          <a:prstGeom prst="rect">
            <a:avLst/>
          </a:prstGeom>
        </p:spPr>
      </p:pic>
      <p:sp>
        <p:nvSpPr>
          <p:cNvPr id="4" name="Text 1"/>
          <p:cNvSpPr/>
          <p:nvPr/>
        </p:nvSpPr>
        <p:spPr>
          <a:xfrm>
            <a:off x="1318260" y="678061"/>
            <a:ext cx="1663303" cy="223838"/>
          </a:xfrm>
          <a:prstGeom prst="rect">
            <a:avLst/>
          </a:prstGeom>
          <a:noFill/>
          <a:ln/>
        </p:spPr>
        <p:txBody>
          <a:bodyPr wrap="none" lIns="0" tIns="0" rIns="0" bIns="0" rtlCol="0" anchor="t"/>
          <a:lstStyle/>
          <a:p>
            <a:pPr algn="l" indent="0" marL="0">
              <a:lnSpc>
                <a:spcPts val="1750"/>
              </a:lnSpc>
              <a:buNone/>
            </a:pPr>
            <a:r>
              <a:rPr lang="en-US" sz="1100" dirty="0">
                <a:solidFill>
                  <a:srgbClr val="224435"/>
                </a:solidFill>
                <a:latin typeface="Overpass Light" pitchFamily="34" charset="0"/>
                <a:ea typeface="Overpass Light" pitchFamily="34" charset="-122"/>
                <a:cs typeface="Overpass Light" pitchFamily="34" charset="-120"/>
              </a:rPr>
              <a:t>PRODUCT PERFORMANCE</a:t>
            </a:r>
            <a:endParaRPr lang="en-US" sz="1100" dirty="0"/>
          </a:p>
        </p:txBody>
      </p:sp>
      <p:sp>
        <p:nvSpPr>
          <p:cNvPr id="5" name="Text 2"/>
          <p:cNvSpPr/>
          <p:nvPr/>
        </p:nvSpPr>
        <p:spPr>
          <a:xfrm>
            <a:off x="996077" y="1034058"/>
            <a:ext cx="8715851" cy="546259"/>
          </a:xfrm>
          <a:prstGeom prst="rect">
            <a:avLst/>
          </a:prstGeom>
          <a:noFill/>
          <a:ln/>
        </p:spPr>
        <p:txBody>
          <a:bodyPr wrap="none" lIns="0" tIns="0" rIns="0" bIns="0" rtlCol="0" anchor="t"/>
          <a:lstStyle/>
          <a:p>
            <a:pPr algn="l" indent="0" marL="0">
              <a:lnSpc>
                <a:spcPts val="4300"/>
              </a:lnSpc>
              <a:buNone/>
            </a:pPr>
            <a:r>
              <a:rPr lang="en-US" sz="3400" b="1" dirty="0">
                <a:solidFill>
                  <a:srgbClr val="233939"/>
                </a:solidFill>
                <a:latin typeface="Syne Bold" pitchFamily="34" charset="0"/>
                <a:ea typeface="Syne Bold" pitchFamily="34" charset="-122"/>
                <a:cs typeface="Syne Bold" pitchFamily="34" charset="-120"/>
              </a:rPr>
              <a:t>Product Ratings &amp; Category Leaders</a:t>
            </a:r>
            <a:endParaRPr lang="en-US" sz="3400" dirty="0"/>
          </a:p>
        </p:txBody>
      </p:sp>
      <p:sp>
        <p:nvSpPr>
          <p:cNvPr id="6" name="Text 3"/>
          <p:cNvSpPr/>
          <p:nvPr/>
        </p:nvSpPr>
        <p:spPr>
          <a:xfrm>
            <a:off x="996077" y="2017276"/>
            <a:ext cx="2939296" cy="327779"/>
          </a:xfrm>
          <a:prstGeom prst="rect">
            <a:avLst/>
          </a:prstGeom>
          <a:noFill/>
          <a:ln/>
        </p:spPr>
        <p:txBody>
          <a:bodyPr wrap="none" lIns="0" tIns="0" rIns="0" bIns="0" rtlCol="0" anchor="t"/>
          <a:lstStyle/>
          <a:p>
            <a:pPr algn="l" indent="0" marL="0">
              <a:lnSpc>
                <a:spcPts val="2550"/>
              </a:lnSpc>
              <a:buNone/>
            </a:pPr>
            <a:r>
              <a:rPr lang="en-US" sz="2050" b="1" dirty="0">
                <a:solidFill>
                  <a:srgbClr val="233939"/>
                </a:solidFill>
                <a:latin typeface="Syne Bold" pitchFamily="34" charset="0"/>
                <a:ea typeface="Syne Bold" pitchFamily="34" charset="-122"/>
                <a:cs typeface="Syne Bold" pitchFamily="34" charset="-120"/>
              </a:rPr>
              <a:t>Top-Rated Products</a:t>
            </a:r>
            <a:endParaRPr lang="en-US" sz="2050" dirty="0"/>
          </a:p>
        </p:txBody>
      </p:sp>
      <p:sp>
        <p:nvSpPr>
          <p:cNvPr id="7" name="Text 4"/>
          <p:cNvSpPr/>
          <p:nvPr/>
        </p:nvSpPr>
        <p:spPr>
          <a:xfrm>
            <a:off x="996077" y="2519839"/>
            <a:ext cx="6105882" cy="559118"/>
          </a:xfrm>
          <a:prstGeom prst="rect">
            <a:avLst/>
          </a:prstGeom>
          <a:noFill/>
          <a:ln/>
        </p:spPr>
        <p:txBody>
          <a:bodyPr wrap="square" lIns="0" tIns="0" rIns="0" bIns="0" rtlCol="0" anchor="t"/>
          <a:lstStyle/>
          <a:p>
            <a:pPr algn="l"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Customer satisfaction analysis reveals the highest-performing products based on average review ratings:</a:t>
            </a:r>
            <a:endParaRPr lang="en-US" sz="1350" dirty="0"/>
          </a:p>
        </p:txBody>
      </p:sp>
      <p:sp>
        <p:nvSpPr>
          <p:cNvPr id="8" name="Shape 5"/>
          <p:cNvSpPr/>
          <p:nvPr/>
        </p:nvSpPr>
        <p:spPr>
          <a:xfrm>
            <a:off x="996077" y="3368516"/>
            <a:ext cx="87392" cy="87392"/>
          </a:xfrm>
          <a:prstGeom prst="roundRect">
            <a:avLst>
              <a:gd name="adj" fmla="val 523160"/>
            </a:avLst>
          </a:prstGeom>
          <a:solidFill>
            <a:srgbClr val="224435"/>
          </a:solidFill>
          <a:ln/>
        </p:spPr>
      </p:sp>
      <p:sp>
        <p:nvSpPr>
          <p:cNvPr id="9" name="Text 6"/>
          <p:cNvSpPr/>
          <p:nvPr/>
        </p:nvSpPr>
        <p:spPr>
          <a:xfrm>
            <a:off x="1258253" y="3275648"/>
            <a:ext cx="2363986" cy="273248"/>
          </a:xfrm>
          <a:prstGeom prst="rect">
            <a:avLst/>
          </a:prstGeom>
          <a:noFill/>
          <a:ln/>
        </p:spPr>
        <p:txBody>
          <a:bodyPr wrap="none" lIns="0" tIns="0" rIns="0" bIns="0" rtlCol="0" anchor="t"/>
          <a:lstStyle/>
          <a:p>
            <a:pPr algn="l" indent="0" marL="0">
              <a:lnSpc>
                <a:spcPts val="2150"/>
              </a:lnSpc>
              <a:buNone/>
            </a:pPr>
            <a:r>
              <a:rPr lang="en-US" sz="1700" b="1" dirty="0">
                <a:solidFill>
                  <a:srgbClr val="3B4E4E"/>
                </a:solidFill>
                <a:latin typeface="Syne Bold" pitchFamily="34" charset="0"/>
                <a:ea typeface="Syne Bold" pitchFamily="34" charset="-122"/>
                <a:cs typeface="Syne Bold" pitchFamily="34" charset="-120"/>
              </a:rPr>
              <a:t>Gloves - 3.86 Rating</a:t>
            </a:r>
            <a:endParaRPr lang="en-US" sz="1700" dirty="0"/>
          </a:p>
        </p:txBody>
      </p:sp>
      <p:sp>
        <p:nvSpPr>
          <p:cNvPr id="10" name="Shape 7"/>
          <p:cNvSpPr/>
          <p:nvPr/>
        </p:nvSpPr>
        <p:spPr>
          <a:xfrm>
            <a:off x="996077" y="3991332"/>
            <a:ext cx="87392" cy="87392"/>
          </a:xfrm>
          <a:prstGeom prst="roundRect">
            <a:avLst>
              <a:gd name="adj" fmla="val 523160"/>
            </a:avLst>
          </a:prstGeom>
          <a:solidFill>
            <a:srgbClr val="224435"/>
          </a:solidFill>
          <a:ln/>
        </p:spPr>
      </p:sp>
      <p:sp>
        <p:nvSpPr>
          <p:cNvPr id="11" name="Text 8"/>
          <p:cNvSpPr/>
          <p:nvPr/>
        </p:nvSpPr>
        <p:spPr>
          <a:xfrm>
            <a:off x="1258253" y="3898463"/>
            <a:ext cx="2516743" cy="273248"/>
          </a:xfrm>
          <a:prstGeom prst="rect">
            <a:avLst/>
          </a:prstGeom>
          <a:noFill/>
          <a:ln/>
        </p:spPr>
        <p:txBody>
          <a:bodyPr wrap="none" lIns="0" tIns="0" rIns="0" bIns="0" rtlCol="0" anchor="t"/>
          <a:lstStyle/>
          <a:p>
            <a:pPr algn="l" indent="0" marL="0">
              <a:lnSpc>
                <a:spcPts val="2150"/>
              </a:lnSpc>
              <a:buNone/>
            </a:pPr>
            <a:r>
              <a:rPr lang="en-US" sz="1700" b="1" dirty="0">
                <a:solidFill>
                  <a:srgbClr val="3B4E4E"/>
                </a:solidFill>
                <a:latin typeface="Syne Bold" pitchFamily="34" charset="0"/>
                <a:ea typeface="Syne Bold" pitchFamily="34" charset="-122"/>
                <a:cs typeface="Syne Bold" pitchFamily="34" charset="-120"/>
              </a:rPr>
              <a:t>Sandals - 3.84 Rating</a:t>
            </a:r>
            <a:endParaRPr lang="en-US" sz="1700" dirty="0"/>
          </a:p>
        </p:txBody>
      </p:sp>
      <p:sp>
        <p:nvSpPr>
          <p:cNvPr id="12" name="Shape 9"/>
          <p:cNvSpPr/>
          <p:nvPr/>
        </p:nvSpPr>
        <p:spPr>
          <a:xfrm>
            <a:off x="996077" y="4614148"/>
            <a:ext cx="87392" cy="87392"/>
          </a:xfrm>
          <a:prstGeom prst="roundRect">
            <a:avLst>
              <a:gd name="adj" fmla="val 523160"/>
            </a:avLst>
          </a:prstGeom>
          <a:solidFill>
            <a:srgbClr val="224435"/>
          </a:solidFill>
          <a:ln/>
        </p:spPr>
      </p:sp>
      <p:sp>
        <p:nvSpPr>
          <p:cNvPr id="13" name="Text 10"/>
          <p:cNvSpPr/>
          <p:nvPr/>
        </p:nvSpPr>
        <p:spPr>
          <a:xfrm>
            <a:off x="1258253" y="4521279"/>
            <a:ext cx="2232660" cy="273248"/>
          </a:xfrm>
          <a:prstGeom prst="rect">
            <a:avLst/>
          </a:prstGeom>
          <a:noFill/>
          <a:ln/>
        </p:spPr>
        <p:txBody>
          <a:bodyPr wrap="none" lIns="0" tIns="0" rIns="0" bIns="0" rtlCol="0" anchor="t"/>
          <a:lstStyle/>
          <a:p>
            <a:pPr algn="l" indent="0" marL="0">
              <a:lnSpc>
                <a:spcPts val="2150"/>
              </a:lnSpc>
              <a:buNone/>
            </a:pPr>
            <a:r>
              <a:rPr lang="en-US" sz="1700" b="1" dirty="0">
                <a:solidFill>
                  <a:srgbClr val="3B4E4E"/>
                </a:solidFill>
                <a:latin typeface="Syne Bold" pitchFamily="34" charset="0"/>
                <a:ea typeface="Syne Bold" pitchFamily="34" charset="-122"/>
                <a:cs typeface="Syne Bold" pitchFamily="34" charset="-120"/>
              </a:rPr>
              <a:t>Boots - 3.82 Rating</a:t>
            </a:r>
            <a:endParaRPr lang="en-US" sz="1700" dirty="0"/>
          </a:p>
        </p:txBody>
      </p:sp>
      <p:sp>
        <p:nvSpPr>
          <p:cNvPr id="14" name="Shape 11"/>
          <p:cNvSpPr/>
          <p:nvPr/>
        </p:nvSpPr>
        <p:spPr>
          <a:xfrm>
            <a:off x="996077" y="5236964"/>
            <a:ext cx="87392" cy="87392"/>
          </a:xfrm>
          <a:prstGeom prst="roundRect">
            <a:avLst>
              <a:gd name="adj" fmla="val 523160"/>
            </a:avLst>
          </a:prstGeom>
          <a:solidFill>
            <a:srgbClr val="224435"/>
          </a:solidFill>
          <a:ln/>
        </p:spPr>
      </p:sp>
      <p:sp>
        <p:nvSpPr>
          <p:cNvPr id="15" name="Text 12"/>
          <p:cNvSpPr/>
          <p:nvPr/>
        </p:nvSpPr>
        <p:spPr>
          <a:xfrm>
            <a:off x="1258253" y="5144095"/>
            <a:ext cx="2185392" cy="273248"/>
          </a:xfrm>
          <a:prstGeom prst="rect">
            <a:avLst/>
          </a:prstGeom>
          <a:noFill/>
          <a:ln/>
        </p:spPr>
        <p:txBody>
          <a:bodyPr wrap="none" lIns="0" tIns="0" rIns="0" bIns="0" rtlCol="0" anchor="t"/>
          <a:lstStyle/>
          <a:p>
            <a:pPr algn="l" indent="0" marL="0">
              <a:lnSpc>
                <a:spcPts val="2150"/>
              </a:lnSpc>
              <a:buNone/>
            </a:pPr>
            <a:r>
              <a:rPr lang="en-US" sz="1700" b="1" dirty="0">
                <a:solidFill>
                  <a:srgbClr val="3B4E4E"/>
                </a:solidFill>
                <a:latin typeface="Syne Bold" pitchFamily="34" charset="0"/>
                <a:ea typeface="Syne Bold" pitchFamily="34" charset="-122"/>
                <a:cs typeface="Syne Bold" pitchFamily="34" charset="-120"/>
              </a:rPr>
              <a:t>Hat - 3.80 Rating</a:t>
            </a:r>
            <a:endParaRPr lang="en-US" sz="1700" dirty="0"/>
          </a:p>
        </p:txBody>
      </p:sp>
      <p:sp>
        <p:nvSpPr>
          <p:cNvPr id="16" name="Shape 13"/>
          <p:cNvSpPr/>
          <p:nvPr/>
        </p:nvSpPr>
        <p:spPr>
          <a:xfrm>
            <a:off x="996077" y="5859780"/>
            <a:ext cx="87392" cy="87392"/>
          </a:xfrm>
          <a:prstGeom prst="roundRect">
            <a:avLst>
              <a:gd name="adj" fmla="val 523160"/>
            </a:avLst>
          </a:prstGeom>
          <a:solidFill>
            <a:srgbClr val="224435"/>
          </a:solidFill>
          <a:ln/>
        </p:spPr>
      </p:sp>
      <p:sp>
        <p:nvSpPr>
          <p:cNvPr id="17" name="Text 14"/>
          <p:cNvSpPr/>
          <p:nvPr/>
        </p:nvSpPr>
        <p:spPr>
          <a:xfrm>
            <a:off x="1258253" y="5766911"/>
            <a:ext cx="2185392" cy="273248"/>
          </a:xfrm>
          <a:prstGeom prst="rect">
            <a:avLst/>
          </a:prstGeom>
          <a:noFill/>
          <a:ln/>
        </p:spPr>
        <p:txBody>
          <a:bodyPr wrap="none" lIns="0" tIns="0" rIns="0" bIns="0" rtlCol="0" anchor="t"/>
          <a:lstStyle/>
          <a:p>
            <a:pPr algn="l" indent="0" marL="0">
              <a:lnSpc>
                <a:spcPts val="2150"/>
              </a:lnSpc>
              <a:buNone/>
            </a:pPr>
            <a:r>
              <a:rPr lang="en-US" sz="1700" b="1" dirty="0">
                <a:solidFill>
                  <a:srgbClr val="3B4E4E"/>
                </a:solidFill>
                <a:latin typeface="Syne Bold" pitchFamily="34" charset="0"/>
                <a:ea typeface="Syne Bold" pitchFamily="34" charset="-122"/>
                <a:cs typeface="Syne Bold" pitchFamily="34" charset="-120"/>
              </a:rPr>
              <a:t>Skirt - 3.78 Rating</a:t>
            </a:r>
            <a:endParaRPr lang="en-US" sz="1700" dirty="0"/>
          </a:p>
        </p:txBody>
      </p:sp>
      <p:sp>
        <p:nvSpPr>
          <p:cNvPr id="18" name="Text 15"/>
          <p:cNvSpPr/>
          <p:nvPr/>
        </p:nvSpPr>
        <p:spPr>
          <a:xfrm>
            <a:off x="7536061" y="2017276"/>
            <a:ext cx="3044904" cy="327779"/>
          </a:xfrm>
          <a:prstGeom prst="rect">
            <a:avLst/>
          </a:prstGeom>
          <a:noFill/>
          <a:ln/>
        </p:spPr>
        <p:txBody>
          <a:bodyPr wrap="none" lIns="0" tIns="0" rIns="0" bIns="0" rtlCol="0" anchor="t"/>
          <a:lstStyle/>
          <a:p>
            <a:pPr algn="l" indent="0" marL="0">
              <a:lnSpc>
                <a:spcPts val="2550"/>
              </a:lnSpc>
              <a:buNone/>
            </a:pPr>
            <a:r>
              <a:rPr lang="en-US" sz="2050" b="1" dirty="0">
                <a:solidFill>
                  <a:srgbClr val="233939"/>
                </a:solidFill>
                <a:latin typeface="Syne Bold" pitchFamily="34" charset="0"/>
                <a:ea typeface="Syne Bold" pitchFamily="34" charset="-122"/>
                <a:cs typeface="Syne Bold" pitchFamily="34" charset="-120"/>
              </a:rPr>
              <a:t>Category Best Sellers</a:t>
            </a:r>
            <a:endParaRPr lang="en-US" sz="2050" dirty="0"/>
          </a:p>
        </p:txBody>
      </p:sp>
      <p:sp>
        <p:nvSpPr>
          <p:cNvPr id="19" name="Text 16"/>
          <p:cNvSpPr/>
          <p:nvPr/>
        </p:nvSpPr>
        <p:spPr>
          <a:xfrm>
            <a:off x="7536061" y="2519839"/>
            <a:ext cx="6105882" cy="279559"/>
          </a:xfrm>
          <a:prstGeom prst="rect">
            <a:avLst/>
          </a:prstGeom>
          <a:noFill/>
          <a:ln/>
        </p:spPr>
        <p:txBody>
          <a:bodyPr wrap="none" lIns="0" tIns="0" rIns="0" bIns="0" rtlCol="0" anchor="t"/>
          <a:lstStyle/>
          <a:p>
            <a:pPr algn="l"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Window function analysis identified top 3 products within each category:</a:t>
            </a:r>
            <a:endParaRPr lang="en-US" sz="1350" dirty="0"/>
          </a:p>
        </p:txBody>
      </p:sp>
      <p:sp>
        <p:nvSpPr>
          <p:cNvPr id="20" name="Text 17"/>
          <p:cNvSpPr/>
          <p:nvPr/>
        </p:nvSpPr>
        <p:spPr>
          <a:xfrm>
            <a:off x="7536061" y="2974181"/>
            <a:ext cx="2185392" cy="273248"/>
          </a:xfrm>
          <a:prstGeom prst="rect">
            <a:avLst/>
          </a:prstGeom>
          <a:noFill/>
          <a:ln/>
        </p:spPr>
        <p:txBody>
          <a:bodyPr wrap="none" lIns="0" tIns="0" rIns="0" bIns="0" rtlCol="0" anchor="t"/>
          <a:lstStyle/>
          <a:p>
            <a:pPr algn="l" indent="0" marL="0">
              <a:lnSpc>
                <a:spcPts val="2150"/>
              </a:lnSpc>
              <a:buNone/>
            </a:pPr>
            <a:r>
              <a:rPr lang="en-US" sz="1700" b="1" dirty="0">
                <a:solidFill>
                  <a:srgbClr val="233939"/>
                </a:solidFill>
                <a:latin typeface="Syne Bold" pitchFamily="34" charset="0"/>
                <a:ea typeface="Syne Bold" pitchFamily="34" charset="-122"/>
                <a:cs typeface="Syne Bold" pitchFamily="34" charset="-120"/>
              </a:rPr>
              <a:t>Accessories</a:t>
            </a:r>
            <a:endParaRPr lang="en-US" sz="1700" dirty="0"/>
          </a:p>
        </p:txBody>
      </p:sp>
      <p:sp>
        <p:nvSpPr>
          <p:cNvPr id="21" name="Text 18"/>
          <p:cNvSpPr/>
          <p:nvPr/>
        </p:nvSpPr>
        <p:spPr>
          <a:xfrm>
            <a:off x="7536061" y="3422213"/>
            <a:ext cx="6105882" cy="279559"/>
          </a:xfrm>
          <a:prstGeom prst="rect">
            <a:avLst/>
          </a:prstGeom>
          <a:noFill/>
          <a:ln/>
        </p:spPr>
        <p:txBody>
          <a:bodyPr wrap="none" lIns="0" tIns="0" rIns="0" bIns="0" rtlCol="0" anchor="t"/>
          <a:lstStyle/>
          <a:p>
            <a:pPr algn="l" marL="342900" indent="-342900">
              <a:lnSpc>
                <a:spcPts val="2200"/>
              </a:lnSpc>
              <a:buSzPct val="100000"/>
              <a:buFont typeface="+mj-lt"/>
              <a:buAutoNum type="arabicPeriod" startAt="1"/>
            </a:pPr>
            <a:r>
              <a:rPr lang="en-US" sz="1350" dirty="0">
                <a:solidFill>
                  <a:srgbClr val="3B4E4E"/>
                </a:solidFill>
                <a:latin typeface="Overpass Light" pitchFamily="34" charset="0"/>
                <a:ea typeface="Overpass Light" pitchFamily="34" charset="-122"/>
                <a:cs typeface="Overpass Light" pitchFamily="34" charset="-120"/>
              </a:rPr>
              <a:t>Jewelry (171 orders)</a:t>
            </a:r>
            <a:endParaRPr lang="en-US" sz="1350" dirty="0"/>
          </a:p>
        </p:txBody>
      </p:sp>
      <p:sp>
        <p:nvSpPr>
          <p:cNvPr id="22" name="Text 19"/>
          <p:cNvSpPr/>
          <p:nvPr/>
        </p:nvSpPr>
        <p:spPr>
          <a:xfrm>
            <a:off x="7536061" y="3762851"/>
            <a:ext cx="6105882" cy="279559"/>
          </a:xfrm>
          <a:prstGeom prst="rect">
            <a:avLst/>
          </a:prstGeom>
          <a:noFill/>
          <a:ln/>
        </p:spPr>
        <p:txBody>
          <a:bodyPr wrap="none" lIns="0" tIns="0" rIns="0" bIns="0" rtlCol="0" anchor="t"/>
          <a:lstStyle/>
          <a:p>
            <a:pPr algn="l" marL="342900" indent="-342900">
              <a:lnSpc>
                <a:spcPts val="2200"/>
              </a:lnSpc>
              <a:buSzPct val="100000"/>
              <a:buFont typeface="+mj-lt"/>
              <a:buAutoNum type="arabicPeriod" startAt="2"/>
            </a:pPr>
            <a:r>
              <a:rPr lang="en-US" sz="1350" dirty="0">
                <a:solidFill>
                  <a:srgbClr val="3B4E4E"/>
                </a:solidFill>
                <a:latin typeface="Overpass Light" pitchFamily="34" charset="0"/>
                <a:ea typeface="Overpass Light" pitchFamily="34" charset="-122"/>
                <a:cs typeface="Overpass Light" pitchFamily="34" charset="-120"/>
              </a:rPr>
              <a:t>Sunglasses (161 orders)</a:t>
            </a:r>
            <a:endParaRPr lang="en-US" sz="1350" dirty="0"/>
          </a:p>
        </p:txBody>
      </p:sp>
      <p:sp>
        <p:nvSpPr>
          <p:cNvPr id="23" name="Text 20"/>
          <p:cNvSpPr/>
          <p:nvPr/>
        </p:nvSpPr>
        <p:spPr>
          <a:xfrm>
            <a:off x="7536061" y="4103489"/>
            <a:ext cx="6105882" cy="279559"/>
          </a:xfrm>
          <a:prstGeom prst="rect">
            <a:avLst/>
          </a:prstGeom>
          <a:noFill/>
          <a:ln/>
        </p:spPr>
        <p:txBody>
          <a:bodyPr wrap="none" lIns="0" tIns="0" rIns="0" bIns="0" rtlCol="0" anchor="t"/>
          <a:lstStyle/>
          <a:p>
            <a:pPr algn="l" marL="342900" indent="-342900">
              <a:lnSpc>
                <a:spcPts val="2200"/>
              </a:lnSpc>
              <a:buSzPct val="100000"/>
              <a:buFont typeface="+mj-lt"/>
              <a:buAutoNum type="arabicPeriod" startAt="3"/>
            </a:pPr>
            <a:r>
              <a:rPr lang="en-US" sz="1350" dirty="0">
                <a:solidFill>
                  <a:srgbClr val="3B4E4E"/>
                </a:solidFill>
                <a:latin typeface="Overpass Light" pitchFamily="34" charset="0"/>
                <a:ea typeface="Overpass Light" pitchFamily="34" charset="-122"/>
                <a:cs typeface="Overpass Light" pitchFamily="34" charset="-120"/>
              </a:rPr>
              <a:t>Belt (161 orders)</a:t>
            </a:r>
            <a:endParaRPr lang="en-US" sz="1350" dirty="0"/>
          </a:p>
        </p:txBody>
      </p:sp>
      <p:sp>
        <p:nvSpPr>
          <p:cNvPr id="24" name="Text 21"/>
          <p:cNvSpPr/>
          <p:nvPr/>
        </p:nvSpPr>
        <p:spPr>
          <a:xfrm>
            <a:off x="7536061" y="4557832"/>
            <a:ext cx="2185392" cy="273248"/>
          </a:xfrm>
          <a:prstGeom prst="rect">
            <a:avLst/>
          </a:prstGeom>
          <a:noFill/>
          <a:ln/>
        </p:spPr>
        <p:txBody>
          <a:bodyPr wrap="none" lIns="0" tIns="0" rIns="0" bIns="0" rtlCol="0" anchor="t"/>
          <a:lstStyle/>
          <a:p>
            <a:pPr algn="l" indent="0" marL="0">
              <a:lnSpc>
                <a:spcPts val="2150"/>
              </a:lnSpc>
              <a:buNone/>
            </a:pPr>
            <a:r>
              <a:rPr lang="en-US" sz="1700" b="1" dirty="0">
                <a:solidFill>
                  <a:srgbClr val="233939"/>
                </a:solidFill>
                <a:latin typeface="Syne Bold" pitchFamily="34" charset="0"/>
                <a:ea typeface="Syne Bold" pitchFamily="34" charset="-122"/>
                <a:cs typeface="Syne Bold" pitchFamily="34" charset="-120"/>
              </a:rPr>
              <a:t>Clothing</a:t>
            </a:r>
            <a:endParaRPr lang="en-US" sz="1700" dirty="0"/>
          </a:p>
        </p:txBody>
      </p:sp>
      <p:sp>
        <p:nvSpPr>
          <p:cNvPr id="25" name="Text 22"/>
          <p:cNvSpPr/>
          <p:nvPr/>
        </p:nvSpPr>
        <p:spPr>
          <a:xfrm>
            <a:off x="7536061" y="5005864"/>
            <a:ext cx="6105882" cy="279559"/>
          </a:xfrm>
          <a:prstGeom prst="rect">
            <a:avLst/>
          </a:prstGeom>
          <a:noFill/>
          <a:ln/>
        </p:spPr>
        <p:txBody>
          <a:bodyPr wrap="none" lIns="0" tIns="0" rIns="0" bIns="0" rtlCol="0" anchor="t"/>
          <a:lstStyle/>
          <a:p>
            <a:pPr algn="l" marL="342900" indent="-342900">
              <a:lnSpc>
                <a:spcPts val="2200"/>
              </a:lnSpc>
              <a:buSzPct val="100000"/>
              <a:buFont typeface="+mj-lt"/>
              <a:buAutoNum type="arabicPeriod" startAt="1"/>
            </a:pPr>
            <a:r>
              <a:rPr lang="en-US" sz="1350" dirty="0">
                <a:solidFill>
                  <a:srgbClr val="3B4E4E"/>
                </a:solidFill>
                <a:latin typeface="Overpass Light" pitchFamily="34" charset="0"/>
                <a:ea typeface="Overpass Light" pitchFamily="34" charset="-122"/>
                <a:cs typeface="Overpass Light" pitchFamily="34" charset="-120"/>
              </a:rPr>
              <a:t>Blouse (171 orders)</a:t>
            </a:r>
            <a:endParaRPr lang="en-US" sz="1350" dirty="0"/>
          </a:p>
        </p:txBody>
      </p:sp>
      <p:sp>
        <p:nvSpPr>
          <p:cNvPr id="26" name="Text 23"/>
          <p:cNvSpPr/>
          <p:nvPr/>
        </p:nvSpPr>
        <p:spPr>
          <a:xfrm>
            <a:off x="7536061" y="5346502"/>
            <a:ext cx="6105882" cy="279559"/>
          </a:xfrm>
          <a:prstGeom prst="rect">
            <a:avLst/>
          </a:prstGeom>
          <a:noFill/>
          <a:ln/>
        </p:spPr>
        <p:txBody>
          <a:bodyPr wrap="none" lIns="0" tIns="0" rIns="0" bIns="0" rtlCol="0" anchor="t"/>
          <a:lstStyle/>
          <a:p>
            <a:pPr algn="l" marL="342900" indent="-342900">
              <a:lnSpc>
                <a:spcPts val="2200"/>
              </a:lnSpc>
              <a:buSzPct val="100000"/>
              <a:buFont typeface="+mj-lt"/>
              <a:buAutoNum type="arabicPeriod" startAt="2"/>
            </a:pPr>
            <a:r>
              <a:rPr lang="en-US" sz="1350" dirty="0">
                <a:solidFill>
                  <a:srgbClr val="3B4E4E"/>
                </a:solidFill>
                <a:latin typeface="Overpass Light" pitchFamily="34" charset="0"/>
                <a:ea typeface="Overpass Light" pitchFamily="34" charset="-122"/>
                <a:cs typeface="Overpass Light" pitchFamily="34" charset="-120"/>
              </a:rPr>
              <a:t>Pants (171 orders)</a:t>
            </a:r>
            <a:endParaRPr lang="en-US" sz="1350" dirty="0"/>
          </a:p>
        </p:txBody>
      </p:sp>
      <p:sp>
        <p:nvSpPr>
          <p:cNvPr id="27" name="Text 24"/>
          <p:cNvSpPr/>
          <p:nvPr/>
        </p:nvSpPr>
        <p:spPr>
          <a:xfrm>
            <a:off x="7536061" y="5687139"/>
            <a:ext cx="6105882" cy="279559"/>
          </a:xfrm>
          <a:prstGeom prst="rect">
            <a:avLst/>
          </a:prstGeom>
          <a:noFill/>
          <a:ln/>
        </p:spPr>
        <p:txBody>
          <a:bodyPr wrap="none" lIns="0" tIns="0" rIns="0" bIns="0" rtlCol="0" anchor="t"/>
          <a:lstStyle/>
          <a:p>
            <a:pPr algn="l" marL="342900" indent="-342900">
              <a:lnSpc>
                <a:spcPts val="2200"/>
              </a:lnSpc>
              <a:buSzPct val="100000"/>
              <a:buFont typeface="+mj-lt"/>
              <a:buAutoNum type="arabicPeriod" startAt="3"/>
            </a:pPr>
            <a:r>
              <a:rPr lang="en-US" sz="1350" dirty="0">
                <a:solidFill>
                  <a:srgbClr val="3B4E4E"/>
                </a:solidFill>
                <a:latin typeface="Overpass Light" pitchFamily="34" charset="0"/>
                <a:ea typeface="Overpass Light" pitchFamily="34" charset="-122"/>
                <a:cs typeface="Overpass Light" pitchFamily="34" charset="-120"/>
              </a:rPr>
              <a:t>Shirt (169 orders)</a:t>
            </a:r>
            <a:endParaRPr lang="en-US" sz="1350" dirty="0"/>
          </a:p>
        </p:txBody>
      </p:sp>
      <p:sp>
        <p:nvSpPr>
          <p:cNvPr id="28" name="Text 25"/>
          <p:cNvSpPr/>
          <p:nvPr/>
        </p:nvSpPr>
        <p:spPr>
          <a:xfrm>
            <a:off x="7536061" y="6141482"/>
            <a:ext cx="2185392" cy="273248"/>
          </a:xfrm>
          <a:prstGeom prst="rect">
            <a:avLst/>
          </a:prstGeom>
          <a:noFill/>
          <a:ln/>
        </p:spPr>
        <p:txBody>
          <a:bodyPr wrap="none" lIns="0" tIns="0" rIns="0" bIns="0" rtlCol="0" anchor="t"/>
          <a:lstStyle/>
          <a:p>
            <a:pPr algn="l" indent="0" marL="0">
              <a:lnSpc>
                <a:spcPts val="2150"/>
              </a:lnSpc>
              <a:buNone/>
            </a:pPr>
            <a:r>
              <a:rPr lang="en-US" sz="1700" b="1" dirty="0">
                <a:solidFill>
                  <a:srgbClr val="233939"/>
                </a:solidFill>
                <a:latin typeface="Syne Bold" pitchFamily="34" charset="0"/>
                <a:ea typeface="Syne Bold" pitchFamily="34" charset="-122"/>
                <a:cs typeface="Syne Bold" pitchFamily="34" charset="-120"/>
              </a:rPr>
              <a:t>Footwear</a:t>
            </a:r>
            <a:endParaRPr lang="en-US" sz="1700" dirty="0"/>
          </a:p>
        </p:txBody>
      </p:sp>
      <p:sp>
        <p:nvSpPr>
          <p:cNvPr id="29" name="Text 26"/>
          <p:cNvSpPr/>
          <p:nvPr/>
        </p:nvSpPr>
        <p:spPr>
          <a:xfrm>
            <a:off x="7536061" y="6589514"/>
            <a:ext cx="6105882" cy="279559"/>
          </a:xfrm>
          <a:prstGeom prst="rect">
            <a:avLst/>
          </a:prstGeom>
          <a:noFill/>
          <a:ln/>
        </p:spPr>
        <p:txBody>
          <a:bodyPr wrap="none" lIns="0" tIns="0" rIns="0" bIns="0" rtlCol="0" anchor="t"/>
          <a:lstStyle/>
          <a:p>
            <a:pPr algn="l" marL="342900" indent="-342900">
              <a:lnSpc>
                <a:spcPts val="2200"/>
              </a:lnSpc>
              <a:buSzPct val="100000"/>
              <a:buFont typeface="+mj-lt"/>
              <a:buAutoNum type="arabicPeriod" startAt="1"/>
            </a:pPr>
            <a:r>
              <a:rPr lang="en-US" sz="1350" dirty="0">
                <a:solidFill>
                  <a:srgbClr val="3B4E4E"/>
                </a:solidFill>
                <a:latin typeface="Overpass Light" pitchFamily="34" charset="0"/>
                <a:ea typeface="Overpass Light" pitchFamily="34" charset="-122"/>
                <a:cs typeface="Overpass Light" pitchFamily="34" charset="-120"/>
              </a:rPr>
              <a:t>Sandals (160 orders)</a:t>
            </a:r>
            <a:endParaRPr lang="en-US" sz="1350" dirty="0"/>
          </a:p>
        </p:txBody>
      </p:sp>
      <p:sp>
        <p:nvSpPr>
          <p:cNvPr id="30" name="Text 27"/>
          <p:cNvSpPr/>
          <p:nvPr/>
        </p:nvSpPr>
        <p:spPr>
          <a:xfrm>
            <a:off x="7536061" y="6930152"/>
            <a:ext cx="6105882" cy="279559"/>
          </a:xfrm>
          <a:prstGeom prst="rect">
            <a:avLst/>
          </a:prstGeom>
          <a:noFill/>
          <a:ln/>
        </p:spPr>
        <p:txBody>
          <a:bodyPr wrap="none" lIns="0" tIns="0" rIns="0" bIns="0" rtlCol="0" anchor="t"/>
          <a:lstStyle/>
          <a:p>
            <a:pPr algn="l" marL="342900" indent="-342900">
              <a:lnSpc>
                <a:spcPts val="2200"/>
              </a:lnSpc>
              <a:buSzPct val="100000"/>
              <a:buFont typeface="+mj-lt"/>
              <a:buAutoNum type="arabicPeriod" startAt="2"/>
            </a:pPr>
            <a:r>
              <a:rPr lang="en-US" sz="1350" dirty="0">
                <a:solidFill>
                  <a:srgbClr val="3B4E4E"/>
                </a:solidFill>
                <a:latin typeface="Overpass Light" pitchFamily="34" charset="0"/>
                <a:ea typeface="Overpass Light" pitchFamily="34" charset="-122"/>
                <a:cs typeface="Overpass Light" pitchFamily="34" charset="-120"/>
              </a:rPr>
              <a:t>Shoes (150 orders)</a:t>
            </a:r>
            <a:endParaRPr lang="en-US" sz="1350" dirty="0"/>
          </a:p>
        </p:txBody>
      </p:sp>
      <p:sp>
        <p:nvSpPr>
          <p:cNvPr id="31" name="Text 28"/>
          <p:cNvSpPr/>
          <p:nvPr/>
        </p:nvSpPr>
        <p:spPr>
          <a:xfrm>
            <a:off x="7536061" y="7270790"/>
            <a:ext cx="6105882" cy="279559"/>
          </a:xfrm>
          <a:prstGeom prst="rect">
            <a:avLst/>
          </a:prstGeom>
          <a:noFill/>
          <a:ln/>
        </p:spPr>
        <p:txBody>
          <a:bodyPr wrap="none" lIns="0" tIns="0" rIns="0" bIns="0" rtlCol="0" anchor="t"/>
          <a:lstStyle/>
          <a:p>
            <a:pPr algn="l" marL="342900" indent="-342900">
              <a:lnSpc>
                <a:spcPts val="2200"/>
              </a:lnSpc>
              <a:buSzPct val="100000"/>
              <a:buFont typeface="+mj-lt"/>
              <a:buAutoNum type="arabicPeriod" startAt="3"/>
            </a:pPr>
            <a:r>
              <a:rPr lang="en-US" sz="1350" dirty="0">
                <a:solidFill>
                  <a:srgbClr val="3B4E4E"/>
                </a:solidFill>
                <a:latin typeface="Overpass Light" pitchFamily="34" charset="0"/>
                <a:ea typeface="Overpass Light" pitchFamily="34" charset="-122"/>
                <a:cs typeface="Overpass Light" pitchFamily="34" charset="-120"/>
              </a:rPr>
              <a:t>Sneakers (145 orders)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368987"/>
          </a:xfrm>
          <a:prstGeom prst="rect">
            <a:avLst/>
          </a:prstGeom>
        </p:spPr>
      </p:pic>
      <p:sp>
        <p:nvSpPr>
          <p:cNvPr id="3" name="Text 0"/>
          <p:cNvSpPr/>
          <p:nvPr/>
        </p:nvSpPr>
        <p:spPr>
          <a:xfrm>
            <a:off x="758071" y="3040142"/>
            <a:ext cx="8214360" cy="592336"/>
          </a:xfrm>
          <a:prstGeom prst="rect">
            <a:avLst/>
          </a:prstGeom>
          <a:noFill/>
          <a:ln/>
        </p:spPr>
        <p:txBody>
          <a:bodyPr wrap="none" lIns="0" tIns="0" rIns="0" bIns="0" rtlCol="0" anchor="t"/>
          <a:lstStyle/>
          <a:p>
            <a:pPr algn="l" indent="0" marL="0">
              <a:lnSpc>
                <a:spcPts val="4650"/>
              </a:lnSpc>
              <a:buNone/>
            </a:pPr>
            <a:r>
              <a:rPr lang="en-US" sz="3700" b="1" dirty="0">
                <a:solidFill>
                  <a:srgbClr val="233939"/>
                </a:solidFill>
                <a:latin typeface="Syne Bold" pitchFamily="34" charset="0"/>
                <a:ea typeface="Syne Bold" pitchFamily="34" charset="-122"/>
                <a:cs typeface="Syne Bold" pitchFamily="34" charset="-120"/>
              </a:rPr>
              <a:t>Shipping &amp; Subscription Insights</a:t>
            </a:r>
            <a:endParaRPr lang="en-US" sz="3700" dirty="0"/>
          </a:p>
        </p:txBody>
      </p:sp>
      <p:sp>
        <p:nvSpPr>
          <p:cNvPr id="4" name="Shape 1"/>
          <p:cNvSpPr/>
          <p:nvPr/>
        </p:nvSpPr>
        <p:spPr>
          <a:xfrm>
            <a:off x="758071" y="3916680"/>
            <a:ext cx="13114258" cy="2320171"/>
          </a:xfrm>
          <a:prstGeom prst="roundRect">
            <a:avLst>
              <a:gd name="adj" fmla="val 3431"/>
            </a:avLst>
          </a:prstGeom>
          <a:solidFill>
            <a:srgbClr val="DDEEE6"/>
          </a:solidFill>
          <a:ln w="7620">
            <a:solidFill>
              <a:srgbClr val="C3D4CC"/>
            </a:solidFill>
            <a:prstDash val="solid"/>
          </a:ln>
        </p:spPr>
      </p:sp>
      <p:sp>
        <p:nvSpPr>
          <p:cNvPr id="5" name="Shape 2"/>
          <p:cNvSpPr/>
          <p:nvPr/>
        </p:nvSpPr>
        <p:spPr>
          <a:xfrm>
            <a:off x="765691" y="3924300"/>
            <a:ext cx="4366260" cy="2304931"/>
          </a:xfrm>
          <a:prstGeom prst="roundRect">
            <a:avLst>
              <a:gd name="adj" fmla="val 3453"/>
            </a:avLst>
          </a:prstGeom>
          <a:solidFill>
            <a:srgbClr val="DDEEE6"/>
          </a:solidFill>
          <a:ln/>
        </p:spPr>
      </p:sp>
      <p:sp>
        <p:nvSpPr>
          <p:cNvPr id="6" name="Text 3"/>
          <p:cNvSpPr/>
          <p:nvPr/>
        </p:nvSpPr>
        <p:spPr>
          <a:xfrm>
            <a:off x="955119" y="4113728"/>
            <a:ext cx="3022521" cy="296108"/>
          </a:xfrm>
          <a:prstGeom prst="rect">
            <a:avLst/>
          </a:prstGeom>
          <a:noFill/>
          <a:ln/>
        </p:spPr>
        <p:txBody>
          <a:bodyPr wrap="none" lIns="0" tIns="0" rIns="0" bIns="0" rtlCol="0" anchor="t"/>
          <a:lstStyle/>
          <a:p>
            <a:pPr algn="l" indent="0" marL="0">
              <a:lnSpc>
                <a:spcPts val="2300"/>
              </a:lnSpc>
              <a:buNone/>
            </a:pPr>
            <a:r>
              <a:rPr lang="en-US" sz="1850" b="1" dirty="0">
                <a:solidFill>
                  <a:srgbClr val="3B4E4E"/>
                </a:solidFill>
                <a:latin typeface="Syne Bold" pitchFamily="34" charset="0"/>
                <a:ea typeface="Syne Bold" pitchFamily="34" charset="-122"/>
                <a:cs typeface="Syne Bold" pitchFamily="34" charset="-120"/>
              </a:rPr>
              <a:t>Shipping Speed Impact</a:t>
            </a:r>
            <a:endParaRPr lang="en-US" sz="1850" dirty="0"/>
          </a:p>
        </p:txBody>
      </p:sp>
      <p:sp>
        <p:nvSpPr>
          <p:cNvPr id="7" name="Text 4"/>
          <p:cNvSpPr/>
          <p:nvPr/>
        </p:nvSpPr>
        <p:spPr>
          <a:xfrm>
            <a:off x="955119" y="4523542"/>
            <a:ext cx="3987403" cy="1516261"/>
          </a:xfrm>
          <a:prstGeom prst="rect">
            <a:avLst/>
          </a:prstGeom>
          <a:noFill/>
          <a:ln/>
        </p:spPr>
        <p:txBody>
          <a:bodyPr wrap="square" lIns="0" tIns="0" rIns="0" bIns="0" rtlCol="0" anchor="t"/>
          <a:lstStyle/>
          <a:p>
            <a:pPr algn="l" indent="0" marL="0">
              <a:lnSpc>
                <a:spcPts val="2350"/>
              </a:lnSpc>
              <a:buNone/>
            </a:pPr>
            <a:r>
              <a:rPr lang="en-US" sz="1450" dirty="0">
                <a:solidFill>
                  <a:srgbClr val="3B4E4E"/>
                </a:solidFill>
                <a:latin typeface="Overpass Light" pitchFamily="34" charset="0"/>
                <a:ea typeface="Overpass Light" pitchFamily="34" charset="-122"/>
                <a:cs typeface="Overpass Light" pitchFamily="34" charset="-120"/>
              </a:rPr>
              <a:t>Express shipping customers spend slightly more on average ($60.48) compared to Standard shipping ($58.46), suggesting a correlation between shipping preference and purchase value.</a:t>
            </a:r>
            <a:endParaRPr lang="en-US" sz="1450" dirty="0"/>
          </a:p>
        </p:txBody>
      </p:sp>
      <p:sp>
        <p:nvSpPr>
          <p:cNvPr id="8" name="Shape 5"/>
          <p:cNvSpPr/>
          <p:nvPr/>
        </p:nvSpPr>
        <p:spPr>
          <a:xfrm>
            <a:off x="5131951" y="3924300"/>
            <a:ext cx="4366379" cy="2304931"/>
          </a:xfrm>
          <a:prstGeom prst="rect">
            <a:avLst/>
          </a:prstGeom>
          <a:solidFill>
            <a:srgbClr val="DDEEE6"/>
          </a:solidFill>
          <a:ln/>
        </p:spPr>
      </p:sp>
      <p:sp>
        <p:nvSpPr>
          <p:cNvPr id="9" name="Shape 6"/>
          <p:cNvSpPr/>
          <p:nvPr/>
        </p:nvSpPr>
        <p:spPr>
          <a:xfrm>
            <a:off x="5131951" y="3924300"/>
            <a:ext cx="22860" cy="2304931"/>
          </a:xfrm>
          <a:prstGeom prst="roundRect">
            <a:avLst>
              <a:gd name="adj" fmla="val 348208"/>
            </a:avLst>
          </a:prstGeom>
          <a:solidFill>
            <a:srgbClr val="C3D4CC"/>
          </a:solidFill>
          <a:ln/>
        </p:spPr>
      </p:sp>
      <p:sp>
        <p:nvSpPr>
          <p:cNvPr id="10" name="Text 7"/>
          <p:cNvSpPr/>
          <p:nvPr/>
        </p:nvSpPr>
        <p:spPr>
          <a:xfrm>
            <a:off x="5321379" y="4113728"/>
            <a:ext cx="3642717" cy="296108"/>
          </a:xfrm>
          <a:prstGeom prst="rect">
            <a:avLst/>
          </a:prstGeom>
          <a:noFill/>
          <a:ln/>
        </p:spPr>
        <p:txBody>
          <a:bodyPr wrap="none" lIns="0" tIns="0" rIns="0" bIns="0" rtlCol="0" anchor="t"/>
          <a:lstStyle/>
          <a:p>
            <a:pPr algn="l" indent="0" marL="0">
              <a:lnSpc>
                <a:spcPts val="2300"/>
              </a:lnSpc>
              <a:buNone/>
            </a:pPr>
            <a:r>
              <a:rPr lang="en-US" sz="1850" b="1" dirty="0">
                <a:solidFill>
                  <a:srgbClr val="3B4E4E"/>
                </a:solidFill>
                <a:latin typeface="Syne Bold" pitchFamily="34" charset="0"/>
                <a:ea typeface="Syne Bold" pitchFamily="34" charset="-122"/>
                <a:cs typeface="Syne Bold" pitchFamily="34" charset="-120"/>
              </a:rPr>
              <a:t>Subscription Status Analysis</a:t>
            </a:r>
            <a:endParaRPr lang="en-US" sz="1850" dirty="0"/>
          </a:p>
        </p:txBody>
      </p:sp>
      <p:sp>
        <p:nvSpPr>
          <p:cNvPr id="11" name="Text 8"/>
          <p:cNvSpPr/>
          <p:nvPr/>
        </p:nvSpPr>
        <p:spPr>
          <a:xfrm>
            <a:off x="5321379" y="4523542"/>
            <a:ext cx="3987522" cy="1516261"/>
          </a:xfrm>
          <a:prstGeom prst="rect">
            <a:avLst/>
          </a:prstGeom>
          <a:noFill/>
          <a:ln/>
        </p:spPr>
        <p:txBody>
          <a:bodyPr wrap="square" lIns="0" tIns="0" rIns="0" bIns="0" rtlCol="0" anchor="t"/>
          <a:lstStyle/>
          <a:p>
            <a:pPr algn="l" indent="0" marL="0">
              <a:lnSpc>
                <a:spcPts val="2350"/>
              </a:lnSpc>
              <a:buNone/>
            </a:pPr>
            <a:r>
              <a:rPr lang="en-US" sz="1450" dirty="0">
                <a:solidFill>
                  <a:srgbClr val="3B4E4E"/>
                </a:solidFill>
                <a:latin typeface="Overpass Light" pitchFamily="34" charset="0"/>
                <a:ea typeface="Overpass Light" pitchFamily="34" charset="-122"/>
                <a:cs typeface="Overpass Light" pitchFamily="34" charset="-120"/>
              </a:rPr>
              <a:t>Only </a:t>
            </a:r>
            <a:pPr algn="l" indent="0" marL="0">
              <a:lnSpc>
                <a:spcPts val="2350"/>
              </a:lnSpc>
              <a:buNone/>
            </a:pPr>
            <a:r>
              <a:rPr lang="en-US" sz="1450" b="1" dirty="0">
                <a:solidFill>
                  <a:srgbClr val="3B4E4E"/>
                </a:solidFill>
                <a:latin typeface="Overpass Light" pitchFamily="34" charset="0"/>
                <a:ea typeface="Overpass Light" pitchFamily="34" charset="-122"/>
                <a:cs typeface="Overpass Light" pitchFamily="34" charset="-120"/>
              </a:rPr>
              <a:t>1,053 customers (27%)</a:t>
            </a:r>
            <a:pPr algn="l" indent="0" marL="0">
              <a:lnSpc>
                <a:spcPts val="2350"/>
              </a:lnSpc>
              <a:buNone/>
            </a:pPr>
            <a:r>
              <a:rPr lang="en-US" sz="1450" dirty="0">
                <a:solidFill>
                  <a:srgbClr val="3B4E4E"/>
                </a:solidFill>
                <a:latin typeface="Overpass Light" pitchFamily="34" charset="0"/>
                <a:ea typeface="Overpass Light" pitchFamily="34" charset="-122"/>
                <a:cs typeface="Overpass Light" pitchFamily="34" charset="-120"/>
              </a:rPr>
              <a:t> are subscribers, generating $62,645 in revenue with $59.49 average spend. Non-subscribers represent </a:t>
            </a:r>
            <a:pPr algn="l" indent="0" marL="0">
              <a:lnSpc>
                <a:spcPts val="2350"/>
              </a:lnSpc>
              <a:buNone/>
            </a:pPr>
            <a:r>
              <a:rPr lang="en-US" sz="1450" b="1" dirty="0">
                <a:solidFill>
                  <a:srgbClr val="3B4E4E"/>
                </a:solidFill>
                <a:latin typeface="Overpass Light" pitchFamily="34" charset="0"/>
                <a:ea typeface="Overpass Light" pitchFamily="34" charset="-122"/>
                <a:cs typeface="Overpass Light" pitchFamily="34" charset="-120"/>
              </a:rPr>
              <a:t>2,847 customers (73%)</a:t>
            </a:r>
            <a:pPr algn="l" indent="0" marL="0">
              <a:lnSpc>
                <a:spcPts val="2350"/>
              </a:lnSpc>
              <a:buNone/>
            </a:pPr>
            <a:r>
              <a:rPr lang="en-US" sz="1450" dirty="0">
                <a:solidFill>
                  <a:srgbClr val="3B4E4E"/>
                </a:solidFill>
                <a:latin typeface="Overpass Light" pitchFamily="34" charset="0"/>
                <a:ea typeface="Overpass Light" pitchFamily="34" charset="-122"/>
                <a:cs typeface="Overpass Light" pitchFamily="34" charset="-120"/>
              </a:rPr>
              <a:t> with $170,436 revenue and $59.87 average spend.</a:t>
            </a:r>
            <a:endParaRPr lang="en-US" sz="1450" dirty="0"/>
          </a:p>
        </p:txBody>
      </p:sp>
      <p:sp>
        <p:nvSpPr>
          <p:cNvPr id="12" name="Shape 9"/>
          <p:cNvSpPr/>
          <p:nvPr/>
        </p:nvSpPr>
        <p:spPr>
          <a:xfrm>
            <a:off x="9498330" y="3924300"/>
            <a:ext cx="4366379" cy="2304931"/>
          </a:xfrm>
          <a:prstGeom prst="rect">
            <a:avLst/>
          </a:prstGeom>
          <a:solidFill>
            <a:srgbClr val="DDEEE6"/>
          </a:solidFill>
          <a:ln/>
        </p:spPr>
      </p:sp>
      <p:sp>
        <p:nvSpPr>
          <p:cNvPr id="13" name="Shape 10"/>
          <p:cNvSpPr/>
          <p:nvPr/>
        </p:nvSpPr>
        <p:spPr>
          <a:xfrm>
            <a:off x="9498330" y="3924300"/>
            <a:ext cx="22860" cy="2304931"/>
          </a:xfrm>
          <a:prstGeom prst="roundRect">
            <a:avLst>
              <a:gd name="adj" fmla="val 348208"/>
            </a:avLst>
          </a:prstGeom>
          <a:solidFill>
            <a:srgbClr val="C3D4CC"/>
          </a:solidFill>
          <a:ln/>
        </p:spPr>
      </p:sp>
      <p:sp>
        <p:nvSpPr>
          <p:cNvPr id="14" name="Text 11"/>
          <p:cNvSpPr/>
          <p:nvPr/>
        </p:nvSpPr>
        <p:spPr>
          <a:xfrm>
            <a:off x="9687758" y="4113728"/>
            <a:ext cx="2466975" cy="296108"/>
          </a:xfrm>
          <a:prstGeom prst="rect">
            <a:avLst/>
          </a:prstGeom>
          <a:noFill/>
          <a:ln/>
        </p:spPr>
        <p:txBody>
          <a:bodyPr wrap="none" lIns="0" tIns="0" rIns="0" bIns="0" rtlCol="0" anchor="t"/>
          <a:lstStyle/>
          <a:p>
            <a:pPr algn="l" indent="0" marL="0">
              <a:lnSpc>
                <a:spcPts val="2300"/>
              </a:lnSpc>
              <a:buNone/>
            </a:pPr>
            <a:r>
              <a:rPr lang="en-US" sz="1850" b="1" dirty="0">
                <a:solidFill>
                  <a:srgbClr val="3B4E4E"/>
                </a:solidFill>
                <a:latin typeface="Syne Bold" pitchFamily="34" charset="0"/>
                <a:ea typeface="Syne Bold" pitchFamily="34" charset="-122"/>
                <a:cs typeface="Syne Bold" pitchFamily="34" charset="-120"/>
              </a:rPr>
              <a:t>Loyalty Correlation</a:t>
            </a:r>
            <a:endParaRPr lang="en-US" sz="1850" dirty="0"/>
          </a:p>
        </p:txBody>
      </p:sp>
      <p:sp>
        <p:nvSpPr>
          <p:cNvPr id="15" name="Text 12"/>
          <p:cNvSpPr/>
          <p:nvPr/>
        </p:nvSpPr>
        <p:spPr>
          <a:xfrm>
            <a:off x="9687758" y="4523542"/>
            <a:ext cx="3987522" cy="1213009"/>
          </a:xfrm>
          <a:prstGeom prst="rect">
            <a:avLst/>
          </a:prstGeom>
          <a:noFill/>
          <a:ln/>
        </p:spPr>
        <p:txBody>
          <a:bodyPr wrap="square" lIns="0" tIns="0" rIns="0" bIns="0" rtlCol="0" anchor="t"/>
          <a:lstStyle/>
          <a:p>
            <a:pPr algn="l" indent="0" marL="0">
              <a:lnSpc>
                <a:spcPts val="2350"/>
              </a:lnSpc>
              <a:buNone/>
            </a:pPr>
            <a:r>
              <a:rPr lang="en-US" sz="1450" dirty="0">
                <a:solidFill>
                  <a:srgbClr val="3B4E4E"/>
                </a:solidFill>
                <a:latin typeface="Overpass Light" pitchFamily="34" charset="0"/>
                <a:ea typeface="Overpass Light" pitchFamily="34" charset="-122"/>
                <a:cs typeface="Overpass Light" pitchFamily="34" charset="-120"/>
              </a:rPr>
              <a:t>Among repeat buyers with more than 5 previous purchases, 2,518 are non-subscribers versus 958 subscribers, indicating significant untapped subscription potential.</a:t>
            </a:r>
            <a:endParaRPr lang="en-US" sz="1450" dirty="0"/>
          </a:p>
        </p:txBody>
      </p:sp>
      <p:sp>
        <p:nvSpPr>
          <p:cNvPr id="16" name="Shape 13"/>
          <p:cNvSpPr/>
          <p:nvPr/>
        </p:nvSpPr>
        <p:spPr>
          <a:xfrm>
            <a:off x="758071" y="6449973"/>
            <a:ext cx="13114258" cy="1108353"/>
          </a:xfrm>
          <a:prstGeom prst="roundRect">
            <a:avLst>
              <a:gd name="adj" fmla="val 7182"/>
            </a:avLst>
          </a:prstGeom>
          <a:solidFill>
            <a:srgbClr val="CCE5DA"/>
          </a:solidFill>
          <a:ln/>
        </p:spPr>
      </p:sp>
      <p:pic>
        <p:nvPicPr>
          <p:cNvPr id="17" name="Image 1" descr="preencoded.png">    </p:cNvPr>
          <p:cNvPicPr>
            <a:picLocks noChangeAspect="1"/>
          </p:cNvPicPr>
          <p:nvPr/>
        </p:nvPicPr>
        <p:blipFill>
          <a:blip r:embed="rId2"/>
          <a:stretch>
            <a:fillRect/>
          </a:stretch>
        </p:blipFill>
        <p:spPr>
          <a:xfrm>
            <a:off x="947499" y="6711315"/>
            <a:ext cx="236815" cy="189428"/>
          </a:xfrm>
          <a:prstGeom prst="rect">
            <a:avLst/>
          </a:prstGeom>
        </p:spPr>
      </p:pic>
      <p:sp>
        <p:nvSpPr>
          <p:cNvPr id="18" name="Text 14"/>
          <p:cNvSpPr/>
          <p:nvPr/>
        </p:nvSpPr>
        <p:spPr>
          <a:xfrm>
            <a:off x="1373743" y="6686669"/>
            <a:ext cx="12309158" cy="606504"/>
          </a:xfrm>
          <a:prstGeom prst="rect">
            <a:avLst/>
          </a:prstGeom>
          <a:noFill/>
          <a:ln/>
        </p:spPr>
        <p:txBody>
          <a:bodyPr wrap="square" lIns="0" tIns="0" rIns="0" bIns="0" rtlCol="0" anchor="t"/>
          <a:lstStyle/>
          <a:p>
            <a:pPr algn="l" indent="0" marL="0">
              <a:lnSpc>
                <a:spcPts val="2350"/>
              </a:lnSpc>
              <a:buNone/>
            </a:pPr>
            <a:r>
              <a:rPr lang="en-US" sz="1450" b="1" dirty="0">
                <a:solidFill>
                  <a:srgbClr val="000000"/>
                </a:solidFill>
                <a:latin typeface="Overpass Light" pitchFamily="34" charset="0"/>
                <a:ea typeface="Overpass Light" pitchFamily="34" charset="-122"/>
                <a:cs typeface="Overpass Light" pitchFamily="34" charset="-120"/>
              </a:rPr>
              <a:t>Critical Finding:</a:t>
            </a:r>
            <a:pPr algn="l" indent="0" marL="0">
              <a:lnSpc>
                <a:spcPts val="2350"/>
              </a:lnSpc>
              <a:buNone/>
            </a:pPr>
            <a:r>
              <a:rPr lang="en-US" sz="1450" dirty="0">
                <a:solidFill>
                  <a:srgbClr val="000000"/>
                </a:solidFill>
                <a:latin typeface="Overpass Light" pitchFamily="34" charset="0"/>
                <a:ea typeface="Overpass Light" pitchFamily="34" charset="-122"/>
                <a:cs typeface="Overpass Light" pitchFamily="34" charset="-120"/>
              </a:rPr>
              <a:t> Repeat buyers show strong loyalty but low subscription adoption. This represents a prime opportunity for subscription upsells and retention programs targeting customers who already demonstrate purchasing consistency.</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51999" y="516969"/>
            <a:ext cx="1530787" cy="353139"/>
          </a:xfrm>
          <a:prstGeom prst="roundRect">
            <a:avLst>
              <a:gd name="adj" fmla="val 17888"/>
            </a:avLst>
          </a:prstGeom>
          <a:solidFill>
            <a:srgbClr val="DDEEE6"/>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4751" y="618292"/>
            <a:ext cx="150376" cy="150376"/>
          </a:xfrm>
          <a:prstGeom prst="rect">
            <a:avLst/>
          </a:prstGeom>
        </p:spPr>
      </p:pic>
      <p:sp>
        <p:nvSpPr>
          <p:cNvPr id="4" name="Text 1"/>
          <p:cNvSpPr/>
          <p:nvPr/>
        </p:nvSpPr>
        <p:spPr>
          <a:xfrm>
            <a:off x="1090255" y="573286"/>
            <a:ext cx="1079778" cy="240506"/>
          </a:xfrm>
          <a:prstGeom prst="rect">
            <a:avLst/>
          </a:prstGeom>
          <a:noFill/>
          <a:ln/>
        </p:spPr>
        <p:txBody>
          <a:bodyPr wrap="none" lIns="0" tIns="0" rIns="0" bIns="0" rtlCol="0" anchor="t"/>
          <a:lstStyle/>
          <a:p>
            <a:pPr algn="l" indent="0" marL="0">
              <a:lnSpc>
                <a:spcPts val="1850"/>
              </a:lnSpc>
              <a:buNone/>
            </a:pPr>
            <a:r>
              <a:rPr lang="en-US" sz="1150" dirty="0">
                <a:solidFill>
                  <a:srgbClr val="3B4E4E"/>
                </a:solidFill>
                <a:latin typeface="Overpass Light" pitchFamily="34" charset="0"/>
                <a:ea typeface="Overpass Light" pitchFamily="34" charset="-122"/>
                <a:cs typeface="Overpass Light" pitchFamily="34" charset="-120"/>
              </a:rPr>
              <a:t>SEGMENTATION</a:t>
            </a:r>
            <a:endParaRPr lang="en-US" sz="1150" dirty="0"/>
          </a:p>
        </p:txBody>
      </p:sp>
      <p:sp>
        <p:nvSpPr>
          <p:cNvPr id="5" name="Text 2"/>
          <p:cNvSpPr/>
          <p:nvPr/>
        </p:nvSpPr>
        <p:spPr>
          <a:xfrm>
            <a:off x="751999" y="946428"/>
            <a:ext cx="8816102" cy="587573"/>
          </a:xfrm>
          <a:prstGeom prst="rect">
            <a:avLst/>
          </a:prstGeom>
          <a:noFill/>
          <a:ln/>
        </p:spPr>
        <p:txBody>
          <a:bodyPr wrap="none" lIns="0" tIns="0" rIns="0" bIns="0" rtlCol="0" anchor="t"/>
          <a:lstStyle/>
          <a:p>
            <a:pPr algn="l" indent="0" marL="0">
              <a:lnSpc>
                <a:spcPts val="4600"/>
              </a:lnSpc>
              <a:buNone/>
            </a:pPr>
            <a:r>
              <a:rPr lang="en-US" sz="3700" b="1" dirty="0">
                <a:solidFill>
                  <a:srgbClr val="233939"/>
                </a:solidFill>
                <a:latin typeface="Syne Bold" pitchFamily="34" charset="0"/>
                <a:ea typeface="Syne Bold" pitchFamily="34" charset="-122"/>
                <a:cs typeface="Syne Bold" pitchFamily="34" charset="-120"/>
              </a:rPr>
              <a:t>Customer Lifecycle Segmentation</a:t>
            </a:r>
            <a:endParaRPr lang="en-US" sz="3700" dirty="0"/>
          </a:p>
        </p:txBody>
      </p:sp>
      <p:sp>
        <p:nvSpPr>
          <p:cNvPr id="6" name="Text 3"/>
          <p:cNvSpPr/>
          <p:nvPr/>
        </p:nvSpPr>
        <p:spPr>
          <a:xfrm>
            <a:off x="751999" y="1815941"/>
            <a:ext cx="13126402" cy="300752"/>
          </a:xfrm>
          <a:prstGeom prst="rect">
            <a:avLst/>
          </a:prstGeom>
          <a:noFill/>
          <a:ln/>
        </p:spPr>
        <p:txBody>
          <a:bodyPr wrap="none" lIns="0" tIns="0" rIns="0" bIns="0" rtlCol="0" anchor="t"/>
          <a:lstStyle/>
          <a:p>
            <a:pPr algn="l" indent="0" marL="0">
              <a:lnSpc>
                <a:spcPts val="2350"/>
              </a:lnSpc>
              <a:buNone/>
            </a:pPr>
            <a:r>
              <a:rPr lang="en-US" sz="1450" dirty="0">
                <a:solidFill>
                  <a:srgbClr val="3B4E4E"/>
                </a:solidFill>
                <a:latin typeface="Overpass Light" pitchFamily="34" charset="0"/>
                <a:ea typeface="Overpass Light" pitchFamily="34" charset="-122"/>
                <a:cs typeface="Overpass Light" pitchFamily="34" charset="-120"/>
              </a:rPr>
              <a:t>Segmentation based on previous purchase history reveals distinct customer groups with different engagement levels and potential value.</a:t>
            </a:r>
            <a:endParaRPr lang="en-US" sz="1450" dirty="0"/>
          </a:p>
        </p:txBody>
      </p:sp>
      <p:sp>
        <p:nvSpPr>
          <p:cNvPr id="7" name="Text 4"/>
          <p:cNvSpPr/>
          <p:nvPr/>
        </p:nvSpPr>
        <p:spPr>
          <a:xfrm>
            <a:off x="2292072" y="4121229"/>
            <a:ext cx="2350056" cy="293727"/>
          </a:xfrm>
          <a:prstGeom prst="rect">
            <a:avLst/>
          </a:prstGeom>
          <a:noFill/>
          <a:ln/>
        </p:spPr>
        <p:txBody>
          <a:bodyPr wrap="none" lIns="0" tIns="0" rIns="0" bIns="0" rtlCol="0" anchor="t"/>
          <a:lstStyle/>
          <a:p>
            <a:pPr algn="r" indent="0" marL="0">
              <a:lnSpc>
                <a:spcPts val="2300"/>
              </a:lnSpc>
              <a:buNone/>
            </a:pPr>
            <a:r>
              <a:rPr lang="en-US" sz="1850" b="1" dirty="0">
                <a:solidFill>
                  <a:srgbClr val="3B4E4E"/>
                </a:solidFill>
                <a:latin typeface="Syne Bold" pitchFamily="34" charset="0"/>
                <a:ea typeface="Syne Bold" pitchFamily="34" charset="-122"/>
                <a:cs typeface="Syne Bold" pitchFamily="34" charset="-120"/>
              </a:rPr>
              <a:t>Loyal Customers</a:t>
            </a:r>
            <a:endParaRPr lang="en-US" sz="1850" dirty="0"/>
          </a:p>
        </p:txBody>
      </p:sp>
      <p:sp>
        <p:nvSpPr>
          <p:cNvPr id="8" name="Text 5"/>
          <p:cNvSpPr/>
          <p:nvPr/>
        </p:nvSpPr>
        <p:spPr>
          <a:xfrm>
            <a:off x="751999" y="4527709"/>
            <a:ext cx="3890129" cy="601504"/>
          </a:xfrm>
          <a:prstGeom prst="rect">
            <a:avLst/>
          </a:prstGeom>
          <a:noFill/>
          <a:ln/>
        </p:spPr>
        <p:txBody>
          <a:bodyPr wrap="square" lIns="0" tIns="0" rIns="0" bIns="0" rtlCol="0" anchor="t"/>
          <a:lstStyle/>
          <a:p>
            <a:pPr algn="r" indent="0" marL="0">
              <a:lnSpc>
                <a:spcPts val="2350"/>
              </a:lnSpc>
              <a:buNone/>
            </a:pPr>
            <a:r>
              <a:rPr lang="en-US" sz="1450" b="1" dirty="0">
                <a:solidFill>
                  <a:srgbClr val="3B4E4E"/>
                </a:solidFill>
                <a:latin typeface="Overpass Light" pitchFamily="34" charset="0"/>
                <a:ea typeface="Overpass Light" pitchFamily="34" charset="-122"/>
                <a:cs typeface="Overpass Light" pitchFamily="34" charset="-120"/>
              </a:rPr>
              <a:t>3,116 customers</a:t>
            </a:r>
            <a:pPr algn="r" indent="0" marL="0">
              <a:lnSpc>
                <a:spcPts val="2350"/>
              </a:lnSpc>
              <a:buNone/>
            </a:pPr>
            <a:r>
              <a:rPr lang="en-US" sz="1450" dirty="0">
                <a:solidFill>
                  <a:srgbClr val="3B4E4E"/>
                </a:solidFill>
                <a:latin typeface="Overpass Light" pitchFamily="34" charset="0"/>
                <a:ea typeface="Overpass Light" pitchFamily="34" charset="-122"/>
                <a:cs typeface="Overpass Light" pitchFamily="34" charset="-120"/>
              </a:rPr>
              <a:t> with 10+ previous purchases represent the core base driving repeat revenue</a:t>
            </a:r>
            <a:endParaRPr lang="en-US" sz="1450" dirty="0"/>
          </a:p>
        </p:txBody>
      </p:sp>
      <p:pic>
        <p:nvPicPr>
          <p:cNvPr id="9" name="Image 1" descr="preencoded.png">    </p:cNvPr>
          <p:cNvPicPr>
            <a:picLocks noChangeAspect="1"/>
          </p:cNvPicPr>
          <p:nvPr/>
        </p:nvPicPr>
        <p:blipFill>
          <a:blip r:embed="rId3"/>
          <a:stretch>
            <a:fillRect/>
          </a:stretch>
        </p:blipFill>
        <p:spPr>
          <a:xfrm>
            <a:off x="5018127" y="2328148"/>
            <a:ext cx="4594146" cy="4594146"/>
          </a:xfrm>
          <a:prstGeom prst="rect">
            <a:avLst/>
          </a:prstGeom>
        </p:spPr>
      </p:pic>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66470" y="4484549"/>
            <a:ext cx="281226" cy="281226"/>
          </a:xfrm>
          <a:prstGeom prst="rect">
            <a:avLst/>
          </a:prstGeom>
        </p:spPr>
      </p:pic>
      <p:sp>
        <p:nvSpPr>
          <p:cNvPr id="11" name="Text 6"/>
          <p:cNvSpPr/>
          <p:nvPr/>
        </p:nvSpPr>
        <p:spPr>
          <a:xfrm>
            <a:off x="9894213" y="2827020"/>
            <a:ext cx="2732365" cy="293727"/>
          </a:xfrm>
          <a:prstGeom prst="rect">
            <a:avLst/>
          </a:prstGeom>
          <a:noFill/>
          <a:ln/>
        </p:spPr>
        <p:txBody>
          <a:bodyPr wrap="none" lIns="0" tIns="0" rIns="0" bIns="0" rtlCol="0" anchor="t"/>
          <a:lstStyle/>
          <a:p>
            <a:pPr algn="l" indent="0" marL="0">
              <a:lnSpc>
                <a:spcPts val="2300"/>
              </a:lnSpc>
              <a:buNone/>
            </a:pPr>
            <a:r>
              <a:rPr lang="en-US" sz="1850" b="1" dirty="0">
                <a:solidFill>
                  <a:srgbClr val="3B4E4E"/>
                </a:solidFill>
                <a:latin typeface="Syne Bold" pitchFamily="34" charset="0"/>
                <a:ea typeface="Syne Bold" pitchFamily="34" charset="-122"/>
                <a:cs typeface="Syne Bold" pitchFamily="34" charset="-120"/>
              </a:rPr>
              <a:t>Returning Customers</a:t>
            </a:r>
            <a:endParaRPr lang="en-US" sz="1850" dirty="0"/>
          </a:p>
        </p:txBody>
      </p:sp>
      <p:sp>
        <p:nvSpPr>
          <p:cNvPr id="12" name="Text 7"/>
          <p:cNvSpPr/>
          <p:nvPr/>
        </p:nvSpPr>
        <p:spPr>
          <a:xfrm>
            <a:off x="9894213" y="3233499"/>
            <a:ext cx="3984188" cy="601504"/>
          </a:xfrm>
          <a:prstGeom prst="rect">
            <a:avLst/>
          </a:prstGeom>
          <a:noFill/>
          <a:ln/>
        </p:spPr>
        <p:txBody>
          <a:bodyPr wrap="square" lIns="0" tIns="0" rIns="0" bIns="0" rtlCol="0" anchor="t"/>
          <a:lstStyle/>
          <a:p>
            <a:pPr algn="l" indent="0" marL="0">
              <a:lnSpc>
                <a:spcPts val="2350"/>
              </a:lnSpc>
              <a:buNone/>
            </a:pPr>
            <a:r>
              <a:rPr lang="en-US" sz="1450" b="1" dirty="0">
                <a:solidFill>
                  <a:srgbClr val="3B4E4E"/>
                </a:solidFill>
                <a:latin typeface="Overpass Light" pitchFamily="34" charset="0"/>
                <a:ea typeface="Overpass Light" pitchFamily="34" charset="-122"/>
                <a:cs typeface="Overpass Light" pitchFamily="34" charset="-120"/>
              </a:rPr>
              <a:t>701 customers</a:t>
            </a:r>
            <a:pPr algn="l" indent="0" marL="0">
              <a:lnSpc>
                <a:spcPts val="2350"/>
              </a:lnSpc>
              <a:buNone/>
            </a:pPr>
            <a:r>
              <a:rPr lang="en-US" sz="1450" dirty="0">
                <a:solidFill>
                  <a:srgbClr val="3B4E4E"/>
                </a:solidFill>
                <a:latin typeface="Overpass Light" pitchFamily="34" charset="0"/>
                <a:ea typeface="Overpass Light" pitchFamily="34" charset="-122"/>
                <a:cs typeface="Overpass Light" pitchFamily="34" charset="-120"/>
              </a:rPr>
              <a:t> with 2-10 purchases show growing engagement and conversion potential</a:t>
            </a:r>
            <a:endParaRPr lang="en-US" sz="1450" dirty="0"/>
          </a:p>
        </p:txBody>
      </p:sp>
      <p:pic>
        <p:nvPicPr>
          <p:cNvPr id="13" name="Image 3" descr="preencoded.png">    </p:cNvPr>
          <p:cNvPicPr>
            <a:picLocks noChangeAspect="1"/>
          </p:cNvPicPr>
          <p:nvPr/>
        </p:nvPicPr>
        <p:blipFill>
          <a:blip r:embed="rId6"/>
          <a:stretch>
            <a:fillRect/>
          </a:stretch>
        </p:blipFill>
        <p:spPr>
          <a:xfrm>
            <a:off x="5018127" y="2328148"/>
            <a:ext cx="4594146" cy="4594146"/>
          </a:xfrm>
          <a:prstGeom prst="rect">
            <a:avLst/>
          </a:prstGeom>
        </p:spPr>
      </p:pic>
      <p:pic>
        <p:nvPicPr>
          <p:cNvPr id="14"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78438" y="3091994"/>
            <a:ext cx="281226" cy="281226"/>
          </a:xfrm>
          <a:prstGeom prst="rect">
            <a:avLst/>
          </a:prstGeom>
        </p:spPr>
      </p:pic>
      <p:sp>
        <p:nvSpPr>
          <p:cNvPr id="15" name="Text 8"/>
          <p:cNvSpPr/>
          <p:nvPr/>
        </p:nvSpPr>
        <p:spPr>
          <a:xfrm>
            <a:off x="9894213" y="5114687"/>
            <a:ext cx="2350056" cy="293727"/>
          </a:xfrm>
          <a:prstGeom prst="rect">
            <a:avLst/>
          </a:prstGeom>
          <a:noFill/>
          <a:ln/>
        </p:spPr>
        <p:txBody>
          <a:bodyPr wrap="none" lIns="0" tIns="0" rIns="0" bIns="0" rtlCol="0" anchor="t"/>
          <a:lstStyle/>
          <a:p>
            <a:pPr algn="l" indent="0" marL="0">
              <a:lnSpc>
                <a:spcPts val="2300"/>
              </a:lnSpc>
              <a:buNone/>
            </a:pPr>
            <a:r>
              <a:rPr lang="en-US" sz="1850" b="1" dirty="0">
                <a:solidFill>
                  <a:srgbClr val="3B4E4E"/>
                </a:solidFill>
                <a:latin typeface="Syne Bold" pitchFamily="34" charset="0"/>
                <a:ea typeface="Syne Bold" pitchFamily="34" charset="-122"/>
                <a:cs typeface="Syne Bold" pitchFamily="34" charset="-120"/>
              </a:rPr>
              <a:t>New Customers</a:t>
            </a:r>
            <a:endParaRPr lang="en-US" sz="1850" dirty="0"/>
          </a:p>
        </p:txBody>
      </p:sp>
      <p:sp>
        <p:nvSpPr>
          <p:cNvPr id="16" name="Text 9"/>
          <p:cNvSpPr/>
          <p:nvPr/>
        </p:nvSpPr>
        <p:spPr>
          <a:xfrm>
            <a:off x="9894213" y="5521166"/>
            <a:ext cx="3984188" cy="902256"/>
          </a:xfrm>
          <a:prstGeom prst="rect">
            <a:avLst/>
          </a:prstGeom>
          <a:noFill/>
          <a:ln/>
        </p:spPr>
        <p:txBody>
          <a:bodyPr wrap="square" lIns="0" tIns="0" rIns="0" bIns="0" rtlCol="0" anchor="t"/>
          <a:lstStyle/>
          <a:p>
            <a:pPr algn="l" indent="0" marL="0">
              <a:lnSpc>
                <a:spcPts val="2350"/>
              </a:lnSpc>
              <a:buNone/>
            </a:pPr>
            <a:r>
              <a:rPr lang="en-US" sz="1450" b="1" dirty="0">
                <a:solidFill>
                  <a:srgbClr val="3B4E4E"/>
                </a:solidFill>
                <a:latin typeface="Overpass Light" pitchFamily="34" charset="0"/>
                <a:ea typeface="Overpass Light" pitchFamily="34" charset="-122"/>
                <a:cs typeface="Overpass Light" pitchFamily="34" charset="-120"/>
              </a:rPr>
              <a:t>83 customers</a:t>
            </a:r>
            <a:pPr algn="l" indent="0" marL="0">
              <a:lnSpc>
                <a:spcPts val="2350"/>
              </a:lnSpc>
              <a:buNone/>
            </a:pPr>
            <a:r>
              <a:rPr lang="en-US" sz="1450" dirty="0">
                <a:solidFill>
                  <a:srgbClr val="3B4E4E"/>
                </a:solidFill>
                <a:latin typeface="Overpass Light" pitchFamily="34" charset="0"/>
                <a:ea typeface="Overpass Light" pitchFamily="34" charset="-122"/>
                <a:cs typeface="Overpass Light" pitchFamily="34" charset="-120"/>
              </a:rPr>
              <a:t> with only 1 purchase require nurturing to drive second purchase and retention</a:t>
            </a:r>
            <a:endParaRPr lang="en-US" sz="1450" dirty="0"/>
          </a:p>
        </p:txBody>
      </p:sp>
      <p:pic>
        <p:nvPicPr>
          <p:cNvPr id="17" name="Image 5" descr="preencoded.png">    </p:cNvPr>
          <p:cNvPicPr>
            <a:picLocks noChangeAspect="1"/>
          </p:cNvPicPr>
          <p:nvPr/>
        </p:nvPicPr>
        <p:blipFill>
          <a:blip r:embed="rId9"/>
          <a:stretch>
            <a:fillRect/>
          </a:stretch>
        </p:blipFill>
        <p:spPr>
          <a:xfrm>
            <a:off x="5018127" y="2328148"/>
            <a:ext cx="4594146" cy="4594146"/>
          </a:xfrm>
          <a:prstGeom prst="rect">
            <a:avLst/>
          </a:prstGeom>
        </p:spPr>
      </p:pic>
      <p:pic>
        <p:nvPicPr>
          <p:cNvPr id="18" name="Image 6"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78438" y="5876985"/>
            <a:ext cx="281226" cy="281226"/>
          </a:xfrm>
          <a:prstGeom prst="rect">
            <a:avLst/>
          </a:prstGeom>
        </p:spPr>
      </p:pic>
      <p:sp>
        <p:nvSpPr>
          <p:cNvPr id="19" name="Text 10"/>
          <p:cNvSpPr/>
          <p:nvPr/>
        </p:nvSpPr>
        <p:spPr>
          <a:xfrm>
            <a:off x="751999" y="7133749"/>
            <a:ext cx="13126402" cy="601504"/>
          </a:xfrm>
          <a:prstGeom prst="rect">
            <a:avLst/>
          </a:prstGeom>
          <a:noFill/>
          <a:ln/>
        </p:spPr>
        <p:txBody>
          <a:bodyPr wrap="square" lIns="0" tIns="0" rIns="0" bIns="0" rtlCol="0" anchor="t"/>
          <a:lstStyle/>
          <a:p>
            <a:pPr algn="l" indent="0" marL="0">
              <a:lnSpc>
                <a:spcPts val="2350"/>
              </a:lnSpc>
              <a:buNone/>
            </a:pPr>
            <a:r>
              <a:rPr lang="en-US" sz="1450" dirty="0">
                <a:solidFill>
                  <a:srgbClr val="3B4E4E"/>
                </a:solidFill>
                <a:latin typeface="Overpass Light" pitchFamily="34" charset="0"/>
                <a:ea typeface="Overpass Light" pitchFamily="34" charset="-122"/>
                <a:cs typeface="Overpass Light" pitchFamily="34" charset="-120"/>
              </a:rPr>
              <a:t>The overwhelming majority (80%) of customers fall into the "Loyal" segment, demonstrating strong retention. However, the small "New" customer base (2%) suggests opportunities to improve acquisition strategies and first-purchase conversion rates.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2291001" y="382191"/>
            <a:ext cx="852726" cy="276463"/>
          </a:xfrm>
          <a:prstGeom prst="roundRect">
            <a:avLst>
              <a:gd name="adj" fmla="val 16895"/>
            </a:avLst>
          </a:prstGeom>
          <a:noFill/>
          <a:ln w="7620">
            <a:solidFill>
              <a:srgbClr val="224435"/>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381964" y="464820"/>
            <a:ext cx="111204" cy="111204"/>
          </a:xfrm>
          <a:prstGeom prst="rect">
            <a:avLst/>
          </a:prstGeom>
        </p:spPr>
      </p:pic>
      <p:sp>
        <p:nvSpPr>
          <p:cNvPr id="4" name="Text 1"/>
          <p:cNvSpPr/>
          <p:nvPr/>
        </p:nvSpPr>
        <p:spPr>
          <a:xfrm>
            <a:off x="2548771" y="431483"/>
            <a:ext cx="503992" cy="177879"/>
          </a:xfrm>
          <a:prstGeom prst="rect">
            <a:avLst/>
          </a:prstGeom>
          <a:noFill/>
          <a:ln/>
        </p:spPr>
        <p:txBody>
          <a:bodyPr wrap="none" lIns="0" tIns="0" rIns="0" bIns="0" rtlCol="0" anchor="t"/>
          <a:lstStyle/>
          <a:p>
            <a:pPr algn="l" indent="0" marL="0">
              <a:lnSpc>
                <a:spcPts val="1400"/>
              </a:lnSpc>
              <a:buNone/>
            </a:pPr>
            <a:r>
              <a:rPr lang="en-US" sz="850" dirty="0">
                <a:solidFill>
                  <a:srgbClr val="224435"/>
                </a:solidFill>
                <a:latin typeface="Overpass Light" pitchFamily="34" charset="0"/>
                <a:ea typeface="Overpass Light" pitchFamily="34" charset="-122"/>
                <a:cs typeface="Overpass Light" pitchFamily="34" charset="-120"/>
              </a:rPr>
              <a:t>POWER BI</a:t>
            </a:r>
            <a:endParaRPr lang="en-US" sz="850" dirty="0"/>
          </a:p>
        </p:txBody>
      </p:sp>
      <p:sp>
        <p:nvSpPr>
          <p:cNvPr id="5" name="Text 2"/>
          <p:cNvSpPr/>
          <p:nvPr/>
        </p:nvSpPr>
        <p:spPr>
          <a:xfrm>
            <a:off x="2291001" y="714256"/>
            <a:ext cx="6960037" cy="434340"/>
          </a:xfrm>
          <a:prstGeom prst="rect">
            <a:avLst/>
          </a:prstGeom>
          <a:noFill/>
          <a:ln/>
        </p:spPr>
        <p:txBody>
          <a:bodyPr wrap="none" lIns="0" tIns="0" rIns="0" bIns="0" rtlCol="0" anchor="t"/>
          <a:lstStyle/>
          <a:p>
            <a:pPr algn="l" indent="0" marL="0">
              <a:lnSpc>
                <a:spcPts val="3400"/>
              </a:lnSpc>
              <a:buNone/>
            </a:pPr>
            <a:r>
              <a:rPr lang="en-US" sz="2700" b="1" dirty="0">
                <a:solidFill>
                  <a:srgbClr val="233939"/>
                </a:solidFill>
                <a:latin typeface="Syne Bold" pitchFamily="34" charset="0"/>
                <a:ea typeface="Syne Bold" pitchFamily="34" charset="-122"/>
                <a:cs typeface="Syne Bold" pitchFamily="34" charset="-120"/>
              </a:rPr>
              <a:t>Interactive Dashboard Development</a:t>
            </a:r>
            <a:endParaRPr lang="en-US" sz="2700" dirty="0"/>
          </a:p>
        </p:txBody>
      </p:sp>
      <p:sp>
        <p:nvSpPr>
          <p:cNvPr id="6" name="Text 3"/>
          <p:cNvSpPr/>
          <p:nvPr/>
        </p:nvSpPr>
        <p:spPr>
          <a:xfrm>
            <a:off x="2291001" y="1357074"/>
            <a:ext cx="10048280" cy="222409"/>
          </a:xfrm>
          <a:prstGeom prst="rect">
            <a:avLst/>
          </a:prstGeom>
          <a:noFill/>
          <a:ln/>
        </p:spPr>
        <p:txBody>
          <a:bodyPr wrap="none" lIns="0" tIns="0" rIns="0" bIns="0" rtlCol="0" anchor="t"/>
          <a:lstStyle/>
          <a:p>
            <a:pPr algn="l" indent="0" marL="0">
              <a:lnSpc>
                <a:spcPts val="1750"/>
              </a:lnSpc>
              <a:buNone/>
            </a:pPr>
            <a:r>
              <a:rPr lang="en-US" sz="1050" dirty="0">
                <a:solidFill>
                  <a:srgbClr val="3B4E4E"/>
                </a:solidFill>
                <a:latin typeface="Overpass Light" pitchFamily="34" charset="0"/>
                <a:ea typeface="Overpass Light" pitchFamily="34" charset="-122"/>
                <a:cs typeface="Overpass Light" pitchFamily="34" charset="-120"/>
              </a:rPr>
              <a:t>The Power BI dashboard provides an interactive view of the analysis, enabling stakeholders to explore data dynamically and make informed decisions.</a:t>
            </a:r>
            <a:endParaRPr lang="en-US" sz="1050" dirty="0"/>
          </a:p>
        </p:txBody>
      </p:sp>
      <p:sp>
        <p:nvSpPr>
          <p:cNvPr id="7" name="Shape 4"/>
          <p:cNvSpPr/>
          <p:nvPr/>
        </p:nvSpPr>
        <p:spPr>
          <a:xfrm>
            <a:off x="2429947" y="1944291"/>
            <a:ext cx="138946" cy="625435"/>
          </a:xfrm>
          <a:prstGeom prst="roundRect">
            <a:avLst>
              <a:gd name="adj" fmla="val 42019"/>
            </a:avLst>
          </a:prstGeom>
          <a:solidFill>
            <a:srgbClr val="DDEEE6"/>
          </a:solidFill>
          <a:ln w="7620">
            <a:solidFill>
              <a:srgbClr val="C3D4CC"/>
            </a:solidFill>
            <a:prstDash val="solid"/>
          </a:ln>
        </p:spPr>
      </p:sp>
      <p:sp>
        <p:nvSpPr>
          <p:cNvPr id="8" name="Shape 5"/>
          <p:cNvSpPr/>
          <p:nvPr/>
        </p:nvSpPr>
        <p:spPr>
          <a:xfrm>
            <a:off x="2291001" y="1853089"/>
            <a:ext cx="416957" cy="416957"/>
          </a:xfrm>
          <a:prstGeom prst="roundRect">
            <a:avLst>
              <a:gd name="adj" fmla="val 109652"/>
            </a:avLst>
          </a:prstGeom>
          <a:solidFill>
            <a:srgbClr val="DDEEE6"/>
          </a:solidFill>
          <a:ln w="7620">
            <a:solidFill>
              <a:srgbClr val="C3D4CC"/>
            </a:solidFill>
            <a:prstDash val="solid"/>
          </a:ln>
        </p:spPr>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95180" y="1957388"/>
            <a:ext cx="208478" cy="208478"/>
          </a:xfrm>
          <a:prstGeom prst="rect">
            <a:avLst/>
          </a:prstGeom>
        </p:spPr>
      </p:pic>
      <p:sp>
        <p:nvSpPr>
          <p:cNvPr id="10" name="Text 6"/>
          <p:cNvSpPr/>
          <p:nvPr/>
        </p:nvSpPr>
        <p:spPr>
          <a:xfrm>
            <a:off x="2846903" y="1874758"/>
            <a:ext cx="1737598" cy="217051"/>
          </a:xfrm>
          <a:prstGeom prst="rect">
            <a:avLst/>
          </a:prstGeom>
          <a:noFill/>
          <a:ln/>
        </p:spPr>
        <p:txBody>
          <a:bodyPr wrap="none" lIns="0" tIns="0" rIns="0" bIns="0" rtlCol="0" anchor="t"/>
          <a:lstStyle/>
          <a:p>
            <a:pPr algn="l" indent="0" marL="0">
              <a:lnSpc>
                <a:spcPts val="1700"/>
              </a:lnSpc>
              <a:buNone/>
            </a:pPr>
            <a:r>
              <a:rPr lang="en-US" sz="1350" b="1" dirty="0">
                <a:solidFill>
                  <a:srgbClr val="3B4E4E"/>
                </a:solidFill>
                <a:latin typeface="Syne Bold" pitchFamily="34" charset="0"/>
                <a:ea typeface="Syne Bold" pitchFamily="34" charset="-122"/>
                <a:cs typeface="Syne Bold" pitchFamily="34" charset="-120"/>
              </a:rPr>
              <a:t>Data Import</a:t>
            </a:r>
            <a:endParaRPr lang="en-US" sz="1350" dirty="0"/>
          </a:p>
        </p:txBody>
      </p:sp>
      <p:sp>
        <p:nvSpPr>
          <p:cNvPr id="11" name="Text 7"/>
          <p:cNvSpPr/>
          <p:nvPr/>
        </p:nvSpPr>
        <p:spPr>
          <a:xfrm>
            <a:off x="2846903" y="2175153"/>
            <a:ext cx="9492377" cy="222409"/>
          </a:xfrm>
          <a:prstGeom prst="rect">
            <a:avLst/>
          </a:prstGeom>
          <a:noFill/>
          <a:ln/>
        </p:spPr>
        <p:txBody>
          <a:bodyPr wrap="none" lIns="0" tIns="0" rIns="0" bIns="0" rtlCol="0" anchor="t"/>
          <a:lstStyle/>
          <a:p>
            <a:pPr algn="l" indent="0" marL="0">
              <a:lnSpc>
                <a:spcPts val="1750"/>
              </a:lnSpc>
              <a:buNone/>
            </a:pPr>
            <a:r>
              <a:rPr lang="en-US" sz="1050" dirty="0">
                <a:solidFill>
                  <a:srgbClr val="3B4E4E"/>
                </a:solidFill>
                <a:latin typeface="Overpass Light" pitchFamily="34" charset="0"/>
                <a:ea typeface="Overpass Light" pitchFamily="34" charset="-122"/>
                <a:cs typeface="Overpass Light" pitchFamily="34" charset="-120"/>
              </a:rPr>
              <a:t>Loaded customer_shopping_behavior.csv via Get Data &gt; Text/CSV in Power BI Desktop</a:t>
            </a:r>
            <a:endParaRPr lang="en-US" sz="1050" dirty="0"/>
          </a:p>
        </p:txBody>
      </p:sp>
      <p:sp>
        <p:nvSpPr>
          <p:cNvPr id="12" name="Shape 8"/>
          <p:cNvSpPr/>
          <p:nvPr/>
        </p:nvSpPr>
        <p:spPr>
          <a:xfrm>
            <a:off x="2638425" y="2917269"/>
            <a:ext cx="138946" cy="625435"/>
          </a:xfrm>
          <a:prstGeom prst="roundRect">
            <a:avLst>
              <a:gd name="adj" fmla="val 42019"/>
            </a:avLst>
          </a:prstGeom>
          <a:solidFill>
            <a:srgbClr val="DDEEE6"/>
          </a:solidFill>
          <a:ln w="7620">
            <a:solidFill>
              <a:srgbClr val="C3D4CC"/>
            </a:solidFill>
            <a:prstDash val="solid"/>
          </a:ln>
        </p:spPr>
      </p:sp>
      <p:sp>
        <p:nvSpPr>
          <p:cNvPr id="13" name="Shape 9"/>
          <p:cNvSpPr/>
          <p:nvPr/>
        </p:nvSpPr>
        <p:spPr>
          <a:xfrm>
            <a:off x="2499479" y="2826068"/>
            <a:ext cx="416957" cy="416957"/>
          </a:xfrm>
          <a:prstGeom prst="roundRect">
            <a:avLst>
              <a:gd name="adj" fmla="val 109652"/>
            </a:avLst>
          </a:prstGeom>
          <a:solidFill>
            <a:srgbClr val="DDEEE6"/>
          </a:solidFill>
          <a:ln w="7620">
            <a:solidFill>
              <a:srgbClr val="C3D4CC"/>
            </a:solidFill>
            <a:prstDash val="solid"/>
          </a:ln>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03659" y="2930366"/>
            <a:ext cx="208478" cy="208478"/>
          </a:xfrm>
          <a:prstGeom prst="rect">
            <a:avLst/>
          </a:prstGeom>
        </p:spPr>
      </p:pic>
      <p:sp>
        <p:nvSpPr>
          <p:cNvPr id="15" name="Text 10"/>
          <p:cNvSpPr/>
          <p:nvPr/>
        </p:nvSpPr>
        <p:spPr>
          <a:xfrm>
            <a:off x="3055382" y="2847737"/>
            <a:ext cx="2747486" cy="217051"/>
          </a:xfrm>
          <a:prstGeom prst="rect">
            <a:avLst/>
          </a:prstGeom>
          <a:noFill/>
          <a:ln/>
        </p:spPr>
        <p:txBody>
          <a:bodyPr wrap="none" lIns="0" tIns="0" rIns="0" bIns="0" rtlCol="0" anchor="t"/>
          <a:lstStyle/>
          <a:p>
            <a:pPr algn="l" indent="0" marL="0">
              <a:lnSpc>
                <a:spcPts val="1700"/>
              </a:lnSpc>
              <a:buNone/>
            </a:pPr>
            <a:r>
              <a:rPr lang="en-US" sz="1350" b="1" dirty="0">
                <a:solidFill>
                  <a:srgbClr val="3B4E4E"/>
                </a:solidFill>
                <a:latin typeface="Syne Bold" pitchFamily="34" charset="0"/>
                <a:ea typeface="Syne Bold" pitchFamily="34" charset="-122"/>
                <a:cs typeface="Syne Bold" pitchFamily="34" charset="-120"/>
              </a:rPr>
              <a:t>Power Query Transformation</a:t>
            </a:r>
            <a:endParaRPr lang="en-US" sz="1350" dirty="0"/>
          </a:p>
        </p:txBody>
      </p:sp>
      <p:sp>
        <p:nvSpPr>
          <p:cNvPr id="16" name="Text 11"/>
          <p:cNvSpPr/>
          <p:nvPr/>
        </p:nvSpPr>
        <p:spPr>
          <a:xfrm>
            <a:off x="3055382" y="3148132"/>
            <a:ext cx="9283898" cy="222409"/>
          </a:xfrm>
          <a:prstGeom prst="rect">
            <a:avLst/>
          </a:prstGeom>
          <a:noFill/>
          <a:ln/>
        </p:spPr>
        <p:txBody>
          <a:bodyPr wrap="none" lIns="0" tIns="0" rIns="0" bIns="0" rtlCol="0" anchor="t"/>
          <a:lstStyle/>
          <a:p>
            <a:pPr algn="l" indent="0" marL="0">
              <a:lnSpc>
                <a:spcPts val="1750"/>
              </a:lnSpc>
              <a:buNone/>
            </a:pPr>
            <a:r>
              <a:rPr lang="en-US" sz="1050" dirty="0">
                <a:solidFill>
                  <a:srgbClr val="3B4E4E"/>
                </a:solidFill>
                <a:latin typeface="Overpass Light" pitchFamily="34" charset="0"/>
                <a:ea typeface="Overpass Light" pitchFamily="34" charset="-122"/>
                <a:cs typeface="Overpass Light" pitchFamily="34" charset="-120"/>
              </a:rPr>
              <a:t>Validated data types, handled null values in Review Rating, created Age Group conditional column matching SQL analysis</a:t>
            </a:r>
            <a:endParaRPr lang="en-US" sz="1050" dirty="0"/>
          </a:p>
        </p:txBody>
      </p:sp>
      <p:sp>
        <p:nvSpPr>
          <p:cNvPr id="17" name="Shape 12"/>
          <p:cNvSpPr/>
          <p:nvPr/>
        </p:nvSpPr>
        <p:spPr>
          <a:xfrm>
            <a:off x="2846903" y="3890248"/>
            <a:ext cx="138946" cy="625435"/>
          </a:xfrm>
          <a:prstGeom prst="roundRect">
            <a:avLst>
              <a:gd name="adj" fmla="val 42019"/>
            </a:avLst>
          </a:prstGeom>
          <a:solidFill>
            <a:srgbClr val="DDEEE6"/>
          </a:solidFill>
          <a:ln w="7620">
            <a:solidFill>
              <a:srgbClr val="C3D4CC"/>
            </a:solidFill>
            <a:prstDash val="solid"/>
          </a:ln>
        </p:spPr>
      </p:sp>
      <p:sp>
        <p:nvSpPr>
          <p:cNvPr id="18" name="Shape 13"/>
          <p:cNvSpPr/>
          <p:nvPr/>
        </p:nvSpPr>
        <p:spPr>
          <a:xfrm>
            <a:off x="2707958" y="3799046"/>
            <a:ext cx="416957" cy="416957"/>
          </a:xfrm>
          <a:prstGeom prst="roundRect">
            <a:avLst>
              <a:gd name="adj" fmla="val 109652"/>
            </a:avLst>
          </a:prstGeom>
          <a:solidFill>
            <a:srgbClr val="DDEEE6"/>
          </a:solidFill>
          <a:ln w="7620">
            <a:solidFill>
              <a:srgbClr val="C3D4CC"/>
            </a:solidFill>
            <a:prstDash val="solid"/>
          </a:ln>
        </p:spPr>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12137" y="3903345"/>
            <a:ext cx="208478" cy="208478"/>
          </a:xfrm>
          <a:prstGeom prst="rect">
            <a:avLst/>
          </a:prstGeom>
        </p:spPr>
      </p:pic>
      <p:sp>
        <p:nvSpPr>
          <p:cNvPr id="20" name="Text 14"/>
          <p:cNvSpPr/>
          <p:nvPr/>
        </p:nvSpPr>
        <p:spPr>
          <a:xfrm>
            <a:off x="3263860" y="3820716"/>
            <a:ext cx="1737598" cy="217051"/>
          </a:xfrm>
          <a:prstGeom prst="rect">
            <a:avLst/>
          </a:prstGeom>
          <a:noFill/>
          <a:ln/>
        </p:spPr>
        <p:txBody>
          <a:bodyPr wrap="none" lIns="0" tIns="0" rIns="0" bIns="0" rtlCol="0" anchor="t"/>
          <a:lstStyle/>
          <a:p>
            <a:pPr algn="l" indent="0" marL="0">
              <a:lnSpc>
                <a:spcPts val="1700"/>
              </a:lnSpc>
              <a:buNone/>
            </a:pPr>
            <a:r>
              <a:rPr lang="en-US" sz="1350" b="1" dirty="0">
                <a:solidFill>
                  <a:srgbClr val="3B4E4E"/>
                </a:solidFill>
                <a:latin typeface="Syne Bold" pitchFamily="34" charset="0"/>
                <a:ea typeface="Syne Bold" pitchFamily="34" charset="-122"/>
                <a:cs typeface="Syne Bold" pitchFamily="34" charset="-120"/>
              </a:rPr>
              <a:t>DAX Measures</a:t>
            </a:r>
            <a:endParaRPr lang="en-US" sz="1350" dirty="0"/>
          </a:p>
        </p:txBody>
      </p:sp>
      <p:sp>
        <p:nvSpPr>
          <p:cNvPr id="21" name="Text 15"/>
          <p:cNvSpPr/>
          <p:nvPr/>
        </p:nvSpPr>
        <p:spPr>
          <a:xfrm>
            <a:off x="3263860" y="4121110"/>
            <a:ext cx="9075420" cy="222409"/>
          </a:xfrm>
          <a:prstGeom prst="rect">
            <a:avLst/>
          </a:prstGeom>
          <a:noFill/>
          <a:ln/>
        </p:spPr>
        <p:txBody>
          <a:bodyPr wrap="none" lIns="0" tIns="0" rIns="0" bIns="0" rtlCol="0" anchor="t"/>
          <a:lstStyle/>
          <a:p>
            <a:pPr algn="l" indent="0" marL="0">
              <a:lnSpc>
                <a:spcPts val="1750"/>
              </a:lnSpc>
              <a:buNone/>
            </a:pPr>
            <a:r>
              <a:rPr lang="en-US" sz="1050" dirty="0">
                <a:solidFill>
                  <a:srgbClr val="3B4E4E"/>
                </a:solidFill>
                <a:latin typeface="Overpass Light" pitchFamily="34" charset="0"/>
                <a:ea typeface="Overpass Light" pitchFamily="34" charset="-122"/>
                <a:cs typeface="Overpass Light" pitchFamily="34" charset="-120"/>
              </a:rPr>
              <a:t>Built key measures for Total Customers, Average Purchase Amount, and Average Rating using DAX formulas</a:t>
            </a:r>
            <a:endParaRPr lang="en-US" sz="1050" dirty="0"/>
          </a:p>
        </p:txBody>
      </p:sp>
      <p:sp>
        <p:nvSpPr>
          <p:cNvPr id="22" name="Shape 16"/>
          <p:cNvSpPr/>
          <p:nvPr/>
        </p:nvSpPr>
        <p:spPr>
          <a:xfrm>
            <a:off x="3055382" y="4863227"/>
            <a:ext cx="138946" cy="625435"/>
          </a:xfrm>
          <a:prstGeom prst="roundRect">
            <a:avLst>
              <a:gd name="adj" fmla="val 42019"/>
            </a:avLst>
          </a:prstGeom>
          <a:solidFill>
            <a:srgbClr val="DDEEE6"/>
          </a:solidFill>
          <a:ln w="7620">
            <a:solidFill>
              <a:srgbClr val="C3D4CC"/>
            </a:solidFill>
            <a:prstDash val="solid"/>
          </a:ln>
        </p:spPr>
      </p:sp>
      <p:sp>
        <p:nvSpPr>
          <p:cNvPr id="23" name="Shape 17"/>
          <p:cNvSpPr/>
          <p:nvPr/>
        </p:nvSpPr>
        <p:spPr>
          <a:xfrm>
            <a:off x="2916436" y="4772025"/>
            <a:ext cx="416957" cy="416957"/>
          </a:xfrm>
          <a:prstGeom prst="roundRect">
            <a:avLst>
              <a:gd name="adj" fmla="val 109652"/>
            </a:avLst>
          </a:prstGeom>
          <a:solidFill>
            <a:srgbClr val="DDEEE6"/>
          </a:solidFill>
          <a:ln w="7620">
            <a:solidFill>
              <a:srgbClr val="C3D4CC"/>
            </a:solidFill>
            <a:prstDash val="solid"/>
          </a:ln>
        </p:spPr>
      </p:sp>
      <p:pic>
        <p:nvPicPr>
          <p:cNvPr id="2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020616" y="4876324"/>
            <a:ext cx="208478" cy="208478"/>
          </a:xfrm>
          <a:prstGeom prst="rect">
            <a:avLst/>
          </a:prstGeom>
        </p:spPr>
      </p:pic>
      <p:sp>
        <p:nvSpPr>
          <p:cNvPr id="25" name="Text 18"/>
          <p:cNvSpPr/>
          <p:nvPr/>
        </p:nvSpPr>
        <p:spPr>
          <a:xfrm>
            <a:off x="3472339" y="4793694"/>
            <a:ext cx="1737598" cy="217051"/>
          </a:xfrm>
          <a:prstGeom prst="rect">
            <a:avLst/>
          </a:prstGeom>
          <a:noFill/>
          <a:ln/>
        </p:spPr>
        <p:txBody>
          <a:bodyPr wrap="none" lIns="0" tIns="0" rIns="0" bIns="0" rtlCol="0" anchor="t"/>
          <a:lstStyle/>
          <a:p>
            <a:pPr algn="l" indent="0" marL="0">
              <a:lnSpc>
                <a:spcPts val="1700"/>
              </a:lnSpc>
              <a:buNone/>
            </a:pPr>
            <a:r>
              <a:rPr lang="en-US" sz="1350" b="1" dirty="0">
                <a:solidFill>
                  <a:srgbClr val="3B4E4E"/>
                </a:solidFill>
                <a:latin typeface="Syne Bold" pitchFamily="34" charset="0"/>
                <a:ea typeface="Syne Bold" pitchFamily="34" charset="-122"/>
                <a:cs typeface="Syne Bold" pitchFamily="34" charset="-120"/>
              </a:rPr>
              <a:t>Visual Creation</a:t>
            </a:r>
            <a:endParaRPr lang="en-US" sz="1350" dirty="0"/>
          </a:p>
        </p:txBody>
      </p:sp>
      <p:sp>
        <p:nvSpPr>
          <p:cNvPr id="26" name="Text 19"/>
          <p:cNvSpPr/>
          <p:nvPr/>
        </p:nvSpPr>
        <p:spPr>
          <a:xfrm>
            <a:off x="3472339" y="5094089"/>
            <a:ext cx="8866942" cy="222409"/>
          </a:xfrm>
          <a:prstGeom prst="rect">
            <a:avLst/>
          </a:prstGeom>
          <a:noFill/>
          <a:ln/>
        </p:spPr>
        <p:txBody>
          <a:bodyPr wrap="none" lIns="0" tIns="0" rIns="0" bIns="0" rtlCol="0" anchor="t"/>
          <a:lstStyle/>
          <a:p>
            <a:pPr algn="l" indent="0" marL="0">
              <a:lnSpc>
                <a:spcPts val="1750"/>
              </a:lnSpc>
              <a:buNone/>
            </a:pPr>
            <a:r>
              <a:rPr lang="en-US" sz="1050" dirty="0">
                <a:solidFill>
                  <a:srgbClr val="3B4E4E"/>
                </a:solidFill>
                <a:latin typeface="Overpass Light" pitchFamily="34" charset="0"/>
                <a:ea typeface="Overpass Light" pitchFamily="34" charset="-122"/>
                <a:cs typeface="Overpass Light" pitchFamily="34" charset="-120"/>
              </a:rPr>
              <a:t>Designed KPI cards, donut charts for subscription status, bar charts for revenue by category and age group</a:t>
            </a:r>
            <a:endParaRPr lang="en-US" sz="1050" dirty="0"/>
          </a:p>
        </p:txBody>
      </p:sp>
      <p:sp>
        <p:nvSpPr>
          <p:cNvPr id="27" name="Shape 20"/>
          <p:cNvSpPr/>
          <p:nvPr/>
        </p:nvSpPr>
        <p:spPr>
          <a:xfrm>
            <a:off x="2846903" y="5836206"/>
            <a:ext cx="138946" cy="625435"/>
          </a:xfrm>
          <a:prstGeom prst="roundRect">
            <a:avLst>
              <a:gd name="adj" fmla="val 42019"/>
            </a:avLst>
          </a:prstGeom>
          <a:solidFill>
            <a:srgbClr val="DDEEE6"/>
          </a:solidFill>
          <a:ln w="7620">
            <a:solidFill>
              <a:srgbClr val="C3D4CC"/>
            </a:solidFill>
            <a:prstDash val="solid"/>
          </a:ln>
        </p:spPr>
      </p:sp>
      <p:sp>
        <p:nvSpPr>
          <p:cNvPr id="28" name="Shape 21"/>
          <p:cNvSpPr/>
          <p:nvPr/>
        </p:nvSpPr>
        <p:spPr>
          <a:xfrm>
            <a:off x="2707958" y="5745004"/>
            <a:ext cx="416957" cy="416957"/>
          </a:xfrm>
          <a:prstGeom prst="roundRect">
            <a:avLst>
              <a:gd name="adj" fmla="val 109652"/>
            </a:avLst>
          </a:prstGeom>
          <a:solidFill>
            <a:srgbClr val="DDEEE6"/>
          </a:solidFill>
          <a:ln w="7620">
            <a:solidFill>
              <a:srgbClr val="C3D4CC"/>
            </a:solidFill>
            <a:prstDash val="solid"/>
          </a:ln>
        </p:spPr>
      </p:sp>
      <p:pic>
        <p:nvPicPr>
          <p:cNvPr id="2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812137" y="5849303"/>
            <a:ext cx="208478" cy="208478"/>
          </a:xfrm>
          <a:prstGeom prst="rect">
            <a:avLst/>
          </a:prstGeom>
        </p:spPr>
      </p:pic>
      <p:sp>
        <p:nvSpPr>
          <p:cNvPr id="30" name="Text 22"/>
          <p:cNvSpPr/>
          <p:nvPr/>
        </p:nvSpPr>
        <p:spPr>
          <a:xfrm>
            <a:off x="3263860" y="5766673"/>
            <a:ext cx="1737598" cy="217051"/>
          </a:xfrm>
          <a:prstGeom prst="rect">
            <a:avLst/>
          </a:prstGeom>
          <a:noFill/>
          <a:ln/>
        </p:spPr>
        <p:txBody>
          <a:bodyPr wrap="none" lIns="0" tIns="0" rIns="0" bIns="0" rtlCol="0" anchor="t"/>
          <a:lstStyle/>
          <a:p>
            <a:pPr algn="l" indent="0" marL="0">
              <a:lnSpc>
                <a:spcPts val="1700"/>
              </a:lnSpc>
              <a:buNone/>
            </a:pPr>
            <a:r>
              <a:rPr lang="en-US" sz="1350" b="1" dirty="0">
                <a:solidFill>
                  <a:srgbClr val="3B4E4E"/>
                </a:solidFill>
                <a:latin typeface="Syne Bold" pitchFamily="34" charset="0"/>
                <a:ea typeface="Syne Bold" pitchFamily="34" charset="-122"/>
                <a:cs typeface="Syne Bold" pitchFamily="34" charset="-120"/>
              </a:rPr>
              <a:t>Interactive Filters</a:t>
            </a:r>
            <a:endParaRPr lang="en-US" sz="1350" dirty="0"/>
          </a:p>
        </p:txBody>
      </p:sp>
      <p:sp>
        <p:nvSpPr>
          <p:cNvPr id="31" name="Text 23"/>
          <p:cNvSpPr/>
          <p:nvPr/>
        </p:nvSpPr>
        <p:spPr>
          <a:xfrm>
            <a:off x="3263860" y="6067068"/>
            <a:ext cx="9075420" cy="222409"/>
          </a:xfrm>
          <a:prstGeom prst="rect">
            <a:avLst/>
          </a:prstGeom>
          <a:noFill/>
          <a:ln/>
        </p:spPr>
        <p:txBody>
          <a:bodyPr wrap="none" lIns="0" tIns="0" rIns="0" bIns="0" rtlCol="0" anchor="t"/>
          <a:lstStyle/>
          <a:p>
            <a:pPr algn="l" indent="0" marL="0">
              <a:lnSpc>
                <a:spcPts val="1750"/>
              </a:lnSpc>
              <a:buNone/>
            </a:pPr>
            <a:r>
              <a:rPr lang="en-US" sz="1050" dirty="0">
                <a:solidFill>
                  <a:srgbClr val="3B4E4E"/>
                </a:solidFill>
                <a:latin typeface="Overpass Light" pitchFamily="34" charset="0"/>
                <a:ea typeface="Overpass Light" pitchFamily="34" charset="-122"/>
                <a:cs typeface="Overpass Light" pitchFamily="34" charset="-120"/>
              </a:rPr>
              <a:t>Added slicers for Gender, Category, and Shipping Type enabling dynamic data exploration</a:t>
            </a:r>
            <a:endParaRPr lang="en-US" sz="1050" dirty="0"/>
          </a:p>
        </p:txBody>
      </p:sp>
      <p:sp>
        <p:nvSpPr>
          <p:cNvPr id="32" name="Text 24"/>
          <p:cNvSpPr/>
          <p:nvPr/>
        </p:nvSpPr>
        <p:spPr>
          <a:xfrm>
            <a:off x="2291001" y="6843832"/>
            <a:ext cx="3123009" cy="458629"/>
          </a:xfrm>
          <a:prstGeom prst="rect">
            <a:avLst/>
          </a:prstGeom>
          <a:noFill/>
          <a:ln/>
        </p:spPr>
        <p:txBody>
          <a:bodyPr wrap="none" lIns="0" tIns="0" rIns="0" bIns="0" rtlCol="0" anchor="t"/>
          <a:lstStyle/>
          <a:p>
            <a:pPr algn="ctr" indent="0" marL="0">
              <a:lnSpc>
                <a:spcPts val="3600"/>
              </a:lnSpc>
              <a:buNone/>
            </a:pPr>
            <a:r>
              <a:rPr lang="en-US" sz="3600" b="1" dirty="0">
                <a:solidFill>
                  <a:srgbClr val="3B4E4E"/>
                </a:solidFill>
                <a:latin typeface="Syne Bold" pitchFamily="34" charset="0"/>
                <a:ea typeface="Syne Bold" pitchFamily="34" charset="-122"/>
                <a:cs typeface="Syne Bold" pitchFamily="34" charset="-120"/>
              </a:rPr>
              <a:t>3.9K</a:t>
            </a:r>
            <a:endParaRPr lang="en-US" sz="3600" dirty="0"/>
          </a:p>
        </p:txBody>
      </p:sp>
      <p:sp>
        <p:nvSpPr>
          <p:cNvPr id="33" name="Text 25"/>
          <p:cNvSpPr/>
          <p:nvPr/>
        </p:nvSpPr>
        <p:spPr>
          <a:xfrm>
            <a:off x="2983706" y="7476053"/>
            <a:ext cx="1737598" cy="217051"/>
          </a:xfrm>
          <a:prstGeom prst="rect">
            <a:avLst/>
          </a:prstGeom>
          <a:noFill/>
          <a:ln/>
        </p:spPr>
        <p:txBody>
          <a:bodyPr wrap="none" lIns="0" tIns="0" rIns="0" bIns="0" rtlCol="0" anchor="t"/>
          <a:lstStyle/>
          <a:p>
            <a:pPr algn="ctr" indent="0" marL="0">
              <a:lnSpc>
                <a:spcPts val="1700"/>
              </a:lnSpc>
              <a:buNone/>
            </a:pPr>
            <a:r>
              <a:rPr lang="en-US" sz="1350" b="1" dirty="0">
                <a:solidFill>
                  <a:srgbClr val="3B4E4E"/>
                </a:solidFill>
                <a:latin typeface="Syne Bold" pitchFamily="34" charset="0"/>
                <a:ea typeface="Syne Bold" pitchFamily="34" charset="-122"/>
                <a:cs typeface="Syne Bold" pitchFamily="34" charset="-120"/>
              </a:rPr>
              <a:t>Total Customers</a:t>
            </a:r>
            <a:endParaRPr lang="en-US" sz="1350" dirty="0"/>
          </a:p>
        </p:txBody>
      </p:sp>
      <p:sp>
        <p:nvSpPr>
          <p:cNvPr id="34" name="Text 26"/>
          <p:cNvSpPr/>
          <p:nvPr/>
        </p:nvSpPr>
        <p:spPr>
          <a:xfrm>
            <a:off x="5760720" y="6843832"/>
            <a:ext cx="3123009" cy="458629"/>
          </a:xfrm>
          <a:prstGeom prst="rect">
            <a:avLst/>
          </a:prstGeom>
          <a:noFill/>
          <a:ln/>
        </p:spPr>
        <p:txBody>
          <a:bodyPr wrap="none" lIns="0" tIns="0" rIns="0" bIns="0" rtlCol="0" anchor="t"/>
          <a:lstStyle/>
          <a:p>
            <a:pPr algn="ctr" indent="0" marL="0">
              <a:lnSpc>
                <a:spcPts val="3600"/>
              </a:lnSpc>
              <a:buNone/>
            </a:pPr>
            <a:r>
              <a:rPr lang="en-US" sz="3600" b="1" dirty="0">
                <a:solidFill>
                  <a:srgbClr val="3B4E4E"/>
                </a:solidFill>
                <a:latin typeface="Syne Bold" pitchFamily="34" charset="0"/>
                <a:ea typeface="Syne Bold" pitchFamily="34" charset="-122"/>
                <a:cs typeface="Syne Bold" pitchFamily="34" charset="-120"/>
              </a:rPr>
              <a:t>$59.76</a:t>
            </a:r>
            <a:endParaRPr lang="en-US" sz="3600" dirty="0"/>
          </a:p>
        </p:txBody>
      </p:sp>
      <p:sp>
        <p:nvSpPr>
          <p:cNvPr id="35" name="Text 27"/>
          <p:cNvSpPr/>
          <p:nvPr/>
        </p:nvSpPr>
        <p:spPr>
          <a:xfrm>
            <a:off x="6453426" y="7476053"/>
            <a:ext cx="1737598" cy="217051"/>
          </a:xfrm>
          <a:prstGeom prst="rect">
            <a:avLst/>
          </a:prstGeom>
          <a:noFill/>
          <a:ln/>
        </p:spPr>
        <p:txBody>
          <a:bodyPr wrap="none" lIns="0" tIns="0" rIns="0" bIns="0" rtlCol="0" anchor="t"/>
          <a:lstStyle/>
          <a:p>
            <a:pPr algn="ctr" indent="0" marL="0">
              <a:lnSpc>
                <a:spcPts val="1700"/>
              </a:lnSpc>
              <a:buNone/>
            </a:pPr>
            <a:r>
              <a:rPr lang="en-US" sz="1350" b="1" dirty="0">
                <a:solidFill>
                  <a:srgbClr val="3B4E4E"/>
                </a:solidFill>
                <a:latin typeface="Syne Bold" pitchFamily="34" charset="0"/>
                <a:ea typeface="Syne Bold" pitchFamily="34" charset="-122"/>
                <a:cs typeface="Syne Bold" pitchFamily="34" charset="-120"/>
              </a:rPr>
              <a:t>Avg Purchase</a:t>
            </a:r>
            <a:endParaRPr lang="en-US" sz="1350" dirty="0"/>
          </a:p>
        </p:txBody>
      </p:sp>
      <p:sp>
        <p:nvSpPr>
          <p:cNvPr id="36" name="Text 28"/>
          <p:cNvSpPr/>
          <p:nvPr/>
        </p:nvSpPr>
        <p:spPr>
          <a:xfrm>
            <a:off x="9230439" y="6843832"/>
            <a:ext cx="3123009" cy="458629"/>
          </a:xfrm>
          <a:prstGeom prst="rect">
            <a:avLst/>
          </a:prstGeom>
          <a:noFill/>
          <a:ln/>
        </p:spPr>
        <p:txBody>
          <a:bodyPr wrap="none" lIns="0" tIns="0" rIns="0" bIns="0" rtlCol="0" anchor="t"/>
          <a:lstStyle/>
          <a:p>
            <a:pPr algn="ctr" indent="0" marL="0">
              <a:lnSpc>
                <a:spcPts val="3600"/>
              </a:lnSpc>
              <a:buNone/>
            </a:pPr>
            <a:r>
              <a:rPr lang="en-US" sz="3600" b="1" dirty="0">
                <a:solidFill>
                  <a:srgbClr val="3B4E4E"/>
                </a:solidFill>
                <a:latin typeface="Syne Bold" pitchFamily="34" charset="0"/>
                <a:ea typeface="Syne Bold" pitchFamily="34" charset="-122"/>
                <a:cs typeface="Syne Bold" pitchFamily="34" charset="-120"/>
              </a:rPr>
              <a:t>3.75</a:t>
            </a:r>
            <a:endParaRPr lang="en-US" sz="3600" dirty="0"/>
          </a:p>
        </p:txBody>
      </p:sp>
      <p:sp>
        <p:nvSpPr>
          <p:cNvPr id="37" name="Text 29"/>
          <p:cNvSpPr/>
          <p:nvPr/>
        </p:nvSpPr>
        <p:spPr>
          <a:xfrm>
            <a:off x="9923145" y="7476053"/>
            <a:ext cx="1737598" cy="217051"/>
          </a:xfrm>
          <a:prstGeom prst="rect">
            <a:avLst/>
          </a:prstGeom>
          <a:noFill/>
          <a:ln/>
        </p:spPr>
        <p:txBody>
          <a:bodyPr wrap="none" lIns="0" tIns="0" rIns="0" bIns="0" rtlCol="0" anchor="t"/>
          <a:lstStyle/>
          <a:p>
            <a:pPr algn="ctr" indent="0" marL="0">
              <a:lnSpc>
                <a:spcPts val="1700"/>
              </a:lnSpc>
              <a:buNone/>
            </a:pPr>
            <a:r>
              <a:rPr lang="en-US" sz="1350" b="1" dirty="0">
                <a:solidFill>
                  <a:srgbClr val="3B4E4E"/>
                </a:solidFill>
                <a:latin typeface="Syne Bold" pitchFamily="34" charset="0"/>
                <a:ea typeface="Syne Bold" pitchFamily="34" charset="-122"/>
                <a:cs typeface="Syne Bold" pitchFamily="34" charset="-120"/>
              </a:rPr>
              <a:t>Avg Rating</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1680805" y="542092"/>
            <a:ext cx="917972" cy="292775"/>
          </a:xfrm>
          <a:prstGeom prst="roundRect">
            <a:avLst>
              <a:gd name="adj" fmla="val 17891"/>
            </a:avLst>
          </a:prstGeom>
          <a:solidFill>
            <a:srgbClr val="DDEEE6"/>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74269" y="626150"/>
            <a:ext cx="124658" cy="124658"/>
          </a:xfrm>
          <a:prstGeom prst="rect">
            <a:avLst/>
          </a:prstGeom>
        </p:spPr>
      </p:pic>
      <p:sp>
        <p:nvSpPr>
          <p:cNvPr id="4" name="Text 1"/>
          <p:cNvSpPr/>
          <p:nvPr/>
        </p:nvSpPr>
        <p:spPr>
          <a:xfrm>
            <a:off x="1961197" y="588764"/>
            <a:ext cx="544116" cy="199430"/>
          </a:xfrm>
          <a:prstGeom prst="rect">
            <a:avLst/>
          </a:prstGeom>
          <a:noFill/>
          <a:ln/>
        </p:spPr>
        <p:txBody>
          <a:bodyPr wrap="none" lIns="0" tIns="0" rIns="0" bIns="0" rtlCol="0" anchor="t"/>
          <a:lstStyle/>
          <a:p>
            <a:pPr algn="l" indent="0" marL="0">
              <a:lnSpc>
                <a:spcPts val="1550"/>
              </a:lnSpc>
              <a:buNone/>
            </a:pPr>
            <a:r>
              <a:rPr lang="en-US" sz="950" dirty="0">
                <a:solidFill>
                  <a:srgbClr val="3B4E4E"/>
                </a:solidFill>
                <a:latin typeface="Overpass Light" pitchFamily="34" charset="0"/>
                <a:ea typeface="Overpass Light" pitchFamily="34" charset="-122"/>
                <a:cs typeface="Overpass Light" pitchFamily="34" charset="-120"/>
              </a:rPr>
              <a:t>INSIGHTS</a:t>
            </a:r>
            <a:endParaRPr lang="en-US" sz="950" dirty="0"/>
          </a:p>
        </p:txBody>
      </p:sp>
      <p:sp>
        <p:nvSpPr>
          <p:cNvPr id="5" name="Text 2"/>
          <p:cNvSpPr/>
          <p:nvPr/>
        </p:nvSpPr>
        <p:spPr>
          <a:xfrm>
            <a:off x="1680805" y="902375"/>
            <a:ext cx="9137928" cy="487085"/>
          </a:xfrm>
          <a:prstGeom prst="rect">
            <a:avLst/>
          </a:prstGeom>
          <a:noFill/>
          <a:ln/>
        </p:spPr>
        <p:txBody>
          <a:bodyPr wrap="none" lIns="0" tIns="0" rIns="0" bIns="0" rtlCol="0" anchor="t"/>
          <a:lstStyle/>
          <a:p>
            <a:pPr algn="l" indent="0" marL="0">
              <a:lnSpc>
                <a:spcPts val="3800"/>
              </a:lnSpc>
              <a:buNone/>
            </a:pPr>
            <a:r>
              <a:rPr lang="en-US" sz="3050" b="1" dirty="0">
                <a:solidFill>
                  <a:srgbClr val="233939"/>
                </a:solidFill>
                <a:latin typeface="Syne Bold" pitchFamily="34" charset="0"/>
                <a:ea typeface="Syne Bold" pitchFamily="34" charset="-122"/>
                <a:cs typeface="Syne Bold" pitchFamily="34" charset="-120"/>
              </a:rPr>
              <a:t>Key Business Insights &amp; Recommendations</a:t>
            </a:r>
            <a:endParaRPr lang="en-US" sz="3050" dirty="0"/>
          </a:p>
        </p:txBody>
      </p:sp>
      <p:sp>
        <p:nvSpPr>
          <p:cNvPr id="6" name="Shape 3"/>
          <p:cNvSpPr/>
          <p:nvPr/>
        </p:nvSpPr>
        <p:spPr>
          <a:xfrm>
            <a:off x="1680805" y="1623298"/>
            <a:ext cx="5556409" cy="2159437"/>
          </a:xfrm>
          <a:prstGeom prst="roundRect">
            <a:avLst>
              <a:gd name="adj" fmla="val 3032"/>
            </a:avLst>
          </a:prstGeom>
          <a:solidFill>
            <a:srgbClr val="FFFDE6"/>
          </a:solidFill>
          <a:ln w="22860">
            <a:solidFill>
              <a:srgbClr val="C3D4CC"/>
            </a:solidFill>
            <a:prstDash val="solid"/>
          </a:ln>
        </p:spPr>
      </p:sp>
      <p:sp>
        <p:nvSpPr>
          <p:cNvPr id="7" name="Shape 4"/>
          <p:cNvSpPr/>
          <p:nvPr/>
        </p:nvSpPr>
        <p:spPr>
          <a:xfrm>
            <a:off x="1703665" y="1646158"/>
            <a:ext cx="5510689" cy="467678"/>
          </a:xfrm>
          <a:prstGeom prst="roundRect">
            <a:avLst>
              <a:gd name="adj" fmla="val 8134"/>
            </a:avLst>
          </a:prstGeom>
          <a:solidFill>
            <a:srgbClr val="DDEEE6"/>
          </a:solidFill>
          <a:ln/>
        </p:spPr>
      </p:sp>
      <p:sp>
        <p:nvSpPr>
          <p:cNvPr id="8" name="Text 5"/>
          <p:cNvSpPr/>
          <p:nvPr/>
        </p:nvSpPr>
        <p:spPr>
          <a:xfrm>
            <a:off x="4342090" y="1729978"/>
            <a:ext cx="233839" cy="292298"/>
          </a:xfrm>
          <a:prstGeom prst="rect">
            <a:avLst/>
          </a:prstGeom>
          <a:noFill/>
          <a:ln/>
        </p:spPr>
        <p:txBody>
          <a:bodyPr wrap="none" lIns="0" tIns="0" rIns="0" bIns="0" rtlCol="0" anchor="t"/>
          <a:lstStyle/>
          <a:p>
            <a:pPr algn="l" indent="0" marL="0">
              <a:lnSpc>
                <a:spcPts val="1800"/>
              </a:lnSpc>
              <a:buNone/>
            </a:pPr>
            <a:r>
              <a:rPr lang="en-US" sz="1800" b="1" dirty="0">
                <a:solidFill>
                  <a:srgbClr val="3B4E4E"/>
                </a:solidFill>
                <a:latin typeface="Syne Bold" pitchFamily="34" charset="0"/>
                <a:ea typeface="Syne Bold" pitchFamily="34" charset="-122"/>
                <a:cs typeface="Syne Bold" pitchFamily="34" charset="-120"/>
              </a:rPr>
              <a:t>1</a:t>
            </a:r>
            <a:endParaRPr lang="en-US" sz="1800" dirty="0"/>
          </a:p>
        </p:txBody>
      </p:sp>
      <p:sp>
        <p:nvSpPr>
          <p:cNvPr id="9" name="Text 6"/>
          <p:cNvSpPr/>
          <p:nvPr/>
        </p:nvSpPr>
        <p:spPr>
          <a:xfrm>
            <a:off x="1859518" y="2269688"/>
            <a:ext cx="3529370" cy="243602"/>
          </a:xfrm>
          <a:prstGeom prst="rect">
            <a:avLst/>
          </a:prstGeom>
          <a:noFill/>
          <a:ln/>
        </p:spPr>
        <p:txBody>
          <a:bodyPr wrap="none" lIns="0" tIns="0" rIns="0" bIns="0" rtlCol="0" anchor="t"/>
          <a:lstStyle/>
          <a:p>
            <a:pPr algn="l" indent="0" marL="0">
              <a:lnSpc>
                <a:spcPts val="1900"/>
              </a:lnSpc>
              <a:buNone/>
            </a:pPr>
            <a:r>
              <a:rPr lang="en-US" sz="1500" b="1" dirty="0">
                <a:solidFill>
                  <a:srgbClr val="3B4E4E"/>
                </a:solidFill>
                <a:latin typeface="Syne Bold" pitchFamily="34" charset="0"/>
                <a:ea typeface="Syne Bold" pitchFamily="34" charset="-122"/>
                <a:cs typeface="Syne Bold" pitchFamily="34" charset="-120"/>
              </a:rPr>
              <a:t>Subscription Growth Opportunity</a:t>
            </a:r>
            <a:endParaRPr lang="en-US" sz="1500" dirty="0"/>
          </a:p>
        </p:txBody>
      </p:sp>
      <p:sp>
        <p:nvSpPr>
          <p:cNvPr id="10" name="Text 7"/>
          <p:cNvSpPr/>
          <p:nvPr/>
        </p:nvSpPr>
        <p:spPr>
          <a:xfrm>
            <a:off x="1859518" y="2606754"/>
            <a:ext cx="5198983" cy="997268"/>
          </a:xfrm>
          <a:prstGeom prst="rect">
            <a:avLst/>
          </a:prstGeom>
          <a:noFill/>
          <a:ln/>
        </p:spPr>
        <p:txBody>
          <a:bodyPr wrap="square" lIns="0" tIns="0" rIns="0" bIns="0" rtlCol="0" anchor="t"/>
          <a:lstStyle/>
          <a:p>
            <a:pPr algn="l" indent="0" marL="0">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Only </a:t>
            </a:r>
            <a:pPr algn="l" indent="0" marL="0">
              <a:lnSpc>
                <a:spcPts val="1950"/>
              </a:lnSpc>
              <a:buNone/>
            </a:pPr>
            <a:r>
              <a:rPr lang="en-US" sz="1200" b="1" dirty="0">
                <a:solidFill>
                  <a:srgbClr val="3B4E4E"/>
                </a:solidFill>
                <a:latin typeface="Overpass Light" pitchFamily="34" charset="0"/>
                <a:ea typeface="Overpass Light" pitchFamily="34" charset="-122"/>
                <a:cs typeface="Overpass Light" pitchFamily="34" charset="-120"/>
              </a:rPr>
              <a:t>27% of customers are subscribers</a:t>
            </a:r>
            <a:pPr algn="l" indent="0" marL="0">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 yet repeat buyers demonstrate strong loyalty. Target the 2,518 non-subscribed repeat buyers with subscription upsells and exclusive benefits to convert them into recurring revenue streams.</a:t>
            </a:r>
            <a:endParaRPr lang="en-US" sz="1200" dirty="0"/>
          </a:p>
        </p:txBody>
      </p:sp>
      <p:sp>
        <p:nvSpPr>
          <p:cNvPr id="11" name="Shape 8"/>
          <p:cNvSpPr/>
          <p:nvPr/>
        </p:nvSpPr>
        <p:spPr>
          <a:xfrm>
            <a:off x="7393067" y="1623298"/>
            <a:ext cx="5556528" cy="2159437"/>
          </a:xfrm>
          <a:prstGeom prst="roundRect">
            <a:avLst>
              <a:gd name="adj" fmla="val 3032"/>
            </a:avLst>
          </a:prstGeom>
          <a:solidFill>
            <a:srgbClr val="FFFDE6"/>
          </a:solidFill>
          <a:ln w="22860">
            <a:solidFill>
              <a:srgbClr val="C3D4CC"/>
            </a:solidFill>
            <a:prstDash val="solid"/>
          </a:ln>
        </p:spPr>
      </p:sp>
      <p:sp>
        <p:nvSpPr>
          <p:cNvPr id="12" name="Shape 9"/>
          <p:cNvSpPr/>
          <p:nvPr/>
        </p:nvSpPr>
        <p:spPr>
          <a:xfrm>
            <a:off x="7415927" y="1646158"/>
            <a:ext cx="5510808" cy="467678"/>
          </a:xfrm>
          <a:prstGeom prst="roundRect">
            <a:avLst>
              <a:gd name="adj" fmla="val 8134"/>
            </a:avLst>
          </a:prstGeom>
          <a:solidFill>
            <a:srgbClr val="DDEEE6"/>
          </a:solidFill>
          <a:ln/>
        </p:spPr>
      </p:sp>
      <p:sp>
        <p:nvSpPr>
          <p:cNvPr id="13" name="Text 10"/>
          <p:cNvSpPr/>
          <p:nvPr/>
        </p:nvSpPr>
        <p:spPr>
          <a:xfrm>
            <a:off x="10054352" y="1729978"/>
            <a:ext cx="233839" cy="292298"/>
          </a:xfrm>
          <a:prstGeom prst="rect">
            <a:avLst/>
          </a:prstGeom>
          <a:noFill/>
          <a:ln/>
        </p:spPr>
        <p:txBody>
          <a:bodyPr wrap="none" lIns="0" tIns="0" rIns="0" bIns="0" rtlCol="0" anchor="t"/>
          <a:lstStyle/>
          <a:p>
            <a:pPr algn="l" indent="0" marL="0">
              <a:lnSpc>
                <a:spcPts val="1800"/>
              </a:lnSpc>
              <a:buNone/>
            </a:pPr>
            <a:r>
              <a:rPr lang="en-US" sz="1800" b="1" dirty="0">
                <a:solidFill>
                  <a:srgbClr val="3B4E4E"/>
                </a:solidFill>
                <a:latin typeface="Syne Bold" pitchFamily="34" charset="0"/>
                <a:ea typeface="Syne Bold" pitchFamily="34" charset="-122"/>
                <a:cs typeface="Syne Bold" pitchFamily="34" charset="-120"/>
              </a:rPr>
              <a:t>2</a:t>
            </a:r>
            <a:endParaRPr lang="en-US" sz="1800" dirty="0"/>
          </a:p>
        </p:txBody>
      </p:sp>
      <p:sp>
        <p:nvSpPr>
          <p:cNvPr id="14" name="Text 11"/>
          <p:cNvSpPr/>
          <p:nvPr/>
        </p:nvSpPr>
        <p:spPr>
          <a:xfrm>
            <a:off x="7571780" y="2269688"/>
            <a:ext cx="2171700" cy="243602"/>
          </a:xfrm>
          <a:prstGeom prst="rect">
            <a:avLst/>
          </a:prstGeom>
          <a:noFill/>
          <a:ln/>
        </p:spPr>
        <p:txBody>
          <a:bodyPr wrap="none" lIns="0" tIns="0" rIns="0" bIns="0" rtlCol="0" anchor="t"/>
          <a:lstStyle/>
          <a:p>
            <a:pPr algn="l" indent="0" marL="0">
              <a:lnSpc>
                <a:spcPts val="1900"/>
              </a:lnSpc>
              <a:buNone/>
            </a:pPr>
            <a:r>
              <a:rPr lang="en-US" sz="1500" b="1" dirty="0">
                <a:solidFill>
                  <a:srgbClr val="3B4E4E"/>
                </a:solidFill>
                <a:latin typeface="Syne Bold" pitchFamily="34" charset="0"/>
                <a:ea typeface="Syne Bold" pitchFamily="34" charset="-122"/>
                <a:cs typeface="Syne Bold" pitchFamily="34" charset="-120"/>
              </a:rPr>
              <a:t>Demographic Focus</a:t>
            </a:r>
            <a:endParaRPr lang="en-US" sz="1500" dirty="0"/>
          </a:p>
        </p:txBody>
      </p:sp>
      <p:sp>
        <p:nvSpPr>
          <p:cNvPr id="15" name="Text 12"/>
          <p:cNvSpPr/>
          <p:nvPr/>
        </p:nvSpPr>
        <p:spPr>
          <a:xfrm>
            <a:off x="7571780" y="2606754"/>
            <a:ext cx="5199102" cy="997268"/>
          </a:xfrm>
          <a:prstGeom prst="rect">
            <a:avLst/>
          </a:prstGeom>
          <a:noFill/>
          <a:ln/>
        </p:spPr>
        <p:txBody>
          <a:bodyPr wrap="square" lIns="0" tIns="0" rIns="0" bIns="0" rtlCol="0" anchor="t"/>
          <a:lstStyle/>
          <a:p>
            <a:pPr algn="l" indent="0" marL="0">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Young Adults and Middle-aged groups contribute the most revenue ($62,143 and $59,197 respectively). Tailor marketing campaigns and product offerings to these high-value demographic segments for maximum ROI.</a:t>
            </a:r>
            <a:endParaRPr lang="en-US" sz="1200" dirty="0"/>
          </a:p>
        </p:txBody>
      </p:sp>
      <p:sp>
        <p:nvSpPr>
          <p:cNvPr id="16" name="Shape 13"/>
          <p:cNvSpPr/>
          <p:nvPr/>
        </p:nvSpPr>
        <p:spPr>
          <a:xfrm>
            <a:off x="1680805" y="3938588"/>
            <a:ext cx="5556409" cy="1910120"/>
          </a:xfrm>
          <a:prstGeom prst="roundRect">
            <a:avLst>
              <a:gd name="adj" fmla="val 3428"/>
            </a:avLst>
          </a:prstGeom>
          <a:solidFill>
            <a:srgbClr val="FFFDE6"/>
          </a:solidFill>
          <a:ln w="22860">
            <a:solidFill>
              <a:srgbClr val="C3D4CC"/>
            </a:solidFill>
            <a:prstDash val="solid"/>
          </a:ln>
        </p:spPr>
      </p:sp>
      <p:sp>
        <p:nvSpPr>
          <p:cNvPr id="17" name="Shape 14"/>
          <p:cNvSpPr/>
          <p:nvPr/>
        </p:nvSpPr>
        <p:spPr>
          <a:xfrm>
            <a:off x="1703665" y="3961448"/>
            <a:ext cx="5510689" cy="467678"/>
          </a:xfrm>
          <a:prstGeom prst="roundRect">
            <a:avLst>
              <a:gd name="adj" fmla="val 8134"/>
            </a:avLst>
          </a:prstGeom>
          <a:solidFill>
            <a:srgbClr val="DDEEE6"/>
          </a:solidFill>
          <a:ln/>
        </p:spPr>
      </p:sp>
      <p:sp>
        <p:nvSpPr>
          <p:cNvPr id="18" name="Text 15"/>
          <p:cNvSpPr/>
          <p:nvPr/>
        </p:nvSpPr>
        <p:spPr>
          <a:xfrm>
            <a:off x="4342090" y="4045268"/>
            <a:ext cx="233839" cy="292298"/>
          </a:xfrm>
          <a:prstGeom prst="rect">
            <a:avLst/>
          </a:prstGeom>
          <a:noFill/>
          <a:ln/>
        </p:spPr>
        <p:txBody>
          <a:bodyPr wrap="none" lIns="0" tIns="0" rIns="0" bIns="0" rtlCol="0" anchor="t"/>
          <a:lstStyle/>
          <a:p>
            <a:pPr algn="l" indent="0" marL="0">
              <a:lnSpc>
                <a:spcPts val="1800"/>
              </a:lnSpc>
              <a:buNone/>
            </a:pPr>
            <a:r>
              <a:rPr lang="en-US" sz="1800" b="1" dirty="0">
                <a:solidFill>
                  <a:srgbClr val="3B4E4E"/>
                </a:solidFill>
                <a:latin typeface="Syne Bold" pitchFamily="34" charset="0"/>
                <a:ea typeface="Syne Bold" pitchFamily="34" charset="-122"/>
                <a:cs typeface="Syne Bold" pitchFamily="34" charset="-120"/>
              </a:rPr>
              <a:t>3</a:t>
            </a:r>
            <a:endParaRPr lang="en-US" sz="1800" dirty="0"/>
          </a:p>
        </p:txBody>
      </p:sp>
      <p:sp>
        <p:nvSpPr>
          <p:cNvPr id="19" name="Text 16"/>
          <p:cNvSpPr/>
          <p:nvPr/>
        </p:nvSpPr>
        <p:spPr>
          <a:xfrm>
            <a:off x="1859518" y="4584978"/>
            <a:ext cx="2300645" cy="243602"/>
          </a:xfrm>
          <a:prstGeom prst="rect">
            <a:avLst/>
          </a:prstGeom>
          <a:noFill/>
          <a:ln/>
        </p:spPr>
        <p:txBody>
          <a:bodyPr wrap="none" lIns="0" tIns="0" rIns="0" bIns="0" rtlCol="0" anchor="t"/>
          <a:lstStyle/>
          <a:p>
            <a:pPr algn="l" indent="0" marL="0">
              <a:lnSpc>
                <a:spcPts val="1900"/>
              </a:lnSpc>
              <a:buNone/>
            </a:pPr>
            <a:r>
              <a:rPr lang="en-US" sz="1500" b="1" dirty="0">
                <a:solidFill>
                  <a:srgbClr val="3B4E4E"/>
                </a:solidFill>
                <a:latin typeface="Syne Bold" pitchFamily="34" charset="0"/>
                <a:ea typeface="Syne Bold" pitchFamily="34" charset="-122"/>
                <a:cs typeface="Syne Bold" pitchFamily="34" charset="-120"/>
              </a:rPr>
              <a:t>Category Dominance</a:t>
            </a:r>
            <a:endParaRPr lang="en-US" sz="1500" dirty="0"/>
          </a:p>
        </p:txBody>
      </p:sp>
      <p:sp>
        <p:nvSpPr>
          <p:cNvPr id="20" name="Text 17"/>
          <p:cNvSpPr/>
          <p:nvPr/>
        </p:nvSpPr>
        <p:spPr>
          <a:xfrm>
            <a:off x="1859518" y="4922044"/>
            <a:ext cx="5198983" cy="747951"/>
          </a:xfrm>
          <a:prstGeom prst="rect">
            <a:avLst/>
          </a:prstGeom>
          <a:noFill/>
          <a:ln/>
        </p:spPr>
        <p:txBody>
          <a:bodyPr wrap="square" lIns="0" tIns="0" rIns="0" bIns="0" rtlCol="0" anchor="t"/>
          <a:lstStyle/>
          <a:p>
            <a:pPr algn="l" indent="0" marL="0">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Clothing is the dominant category with Jewelry, Pants, and Blouses as top sellers. Expand inventory depth in these high-performing categories while testing new products in underperforming segments.</a:t>
            </a:r>
            <a:endParaRPr lang="en-US" sz="1200" dirty="0"/>
          </a:p>
        </p:txBody>
      </p:sp>
      <p:sp>
        <p:nvSpPr>
          <p:cNvPr id="21" name="Shape 18"/>
          <p:cNvSpPr/>
          <p:nvPr/>
        </p:nvSpPr>
        <p:spPr>
          <a:xfrm>
            <a:off x="7393067" y="3938588"/>
            <a:ext cx="5556528" cy="1910120"/>
          </a:xfrm>
          <a:prstGeom prst="roundRect">
            <a:avLst>
              <a:gd name="adj" fmla="val 3428"/>
            </a:avLst>
          </a:prstGeom>
          <a:solidFill>
            <a:srgbClr val="FFFDE6"/>
          </a:solidFill>
          <a:ln w="22860">
            <a:solidFill>
              <a:srgbClr val="C3D4CC"/>
            </a:solidFill>
            <a:prstDash val="solid"/>
          </a:ln>
        </p:spPr>
      </p:sp>
      <p:sp>
        <p:nvSpPr>
          <p:cNvPr id="22" name="Shape 19"/>
          <p:cNvSpPr/>
          <p:nvPr/>
        </p:nvSpPr>
        <p:spPr>
          <a:xfrm>
            <a:off x="7415927" y="3961448"/>
            <a:ext cx="5510808" cy="467678"/>
          </a:xfrm>
          <a:prstGeom prst="roundRect">
            <a:avLst>
              <a:gd name="adj" fmla="val 8134"/>
            </a:avLst>
          </a:prstGeom>
          <a:solidFill>
            <a:srgbClr val="DDEEE6"/>
          </a:solidFill>
          <a:ln/>
        </p:spPr>
      </p:sp>
      <p:sp>
        <p:nvSpPr>
          <p:cNvPr id="23" name="Text 20"/>
          <p:cNvSpPr/>
          <p:nvPr/>
        </p:nvSpPr>
        <p:spPr>
          <a:xfrm>
            <a:off x="10054352" y="4045268"/>
            <a:ext cx="233839" cy="292298"/>
          </a:xfrm>
          <a:prstGeom prst="rect">
            <a:avLst/>
          </a:prstGeom>
          <a:noFill/>
          <a:ln/>
        </p:spPr>
        <p:txBody>
          <a:bodyPr wrap="none" lIns="0" tIns="0" rIns="0" bIns="0" rtlCol="0" anchor="t"/>
          <a:lstStyle/>
          <a:p>
            <a:pPr algn="l" indent="0" marL="0">
              <a:lnSpc>
                <a:spcPts val="1800"/>
              </a:lnSpc>
              <a:buNone/>
            </a:pPr>
            <a:r>
              <a:rPr lang="en-US" sz="1800" b="1" dirty="0">
                <a:solidFill>
                  <a:srgbClr val="3B4E4E"/>
                </a:solidFill>
                <a:latin typeface="Syne Bold" pitchFamily="34" charset="0"/>
                <a:ea typeface="Syne Bold" pitchFamily="34" charset="-122"/>
                <a:cs typeface="Syne Bold" pitchFamily="34" charset="-120"/>
              </a:rPr>
              <a:t>4</a:t>
            </a:r>
            <a:endParaRPr lang="en-US" sz="1800" dirty="0"/>
          </a:p>
        </p:txBody>
      </p:sp>
      <p:sp>
        <p:nvSpPr>
          <p:cNvPr id="24" name="Text 21"/>
          <p:cNvSpPr/>
          <p:nvPr/>
        </p:nvSpPr>
        <p:spPr>
          <a:xfrm>
            <a:off x="7571780" y="4584978"/>
            <a:ext cx="2293858" cy="243602"/>
          </a:xfrm>
          <a:prstGeom prst="rect">
            <a:avLst/>
          </a:prstGeom>
          <a:noFill/>
          <a:ln/>
        </p:spPr>
        <p:txBody>
          <a:bodyPr wrap="none" lIns="0" tIns="0" rIns="0" bIns="0" rtlCol="0" anchor="t"/>
          <a:lstStyle/>
          <a:p>
            <a:pPr algn="l" indent="0" marL="0">
              <a:lnSpc>
                <a:spcPts val="1900"/>
              </a:lnSpc>
              <a:buNone/>
            </a:pPr>
            <a:r>
              <a:rPr lang="en-US" sz="1500" b="1" dirty="0">
                <a:solidFill>
                  <a:srgbClr val="3B4E4E"/>
                </a:solidFill>
                <a:latin typeface="Syne Bold" pitchFamily="34" charset="0"/>
                <a:ea typeface="Syne Bold" pitchFamily="34" charset="-122"/>
                <a:cs typeface="Syne Bold" pitchFamily="34" charset="-120"/>
              </a:rPr>
              <a:t>Strategic Discounting</a:t>
            </a:r>
            <a:endParaRPr lang="en-US" sz="1500" dirty="0"/>
          </a:p>
        </p:txBody>
      </p:sp>
      <p:sp>
        <p:nvSpPr>
          <p:cNvPr id="25" name="Text 22"/>
          <p:cNvSpPr/>
          <p:nvPr/>
        </p:nvSpPr>
        <p:spPr>
          <a:xfrm>
            <a:off x="7571780" y="4922044"/>
            <a:ext cx="5199102" cy="747951"/>
          </a:xfrm>
          <a:prstGeom prst="rect">
            <a:avLst/>
          </a:prstGeom>
          <a:noFill/>
          <a:ln/>
        </p:spPr>
        <p:txBody>
          <a:bodyPr wrap="square" lIns="0" tIns="0" rIns="0" bIns="0" rtlCol="0" anchor="t"/>
          <a:lstStyle/>
          <a:p>
            <a:pPr algn="l" indent="0" marL="0">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High-value customers actively use discounts while maintaining above-average purchase amounts. Implement targeted promotions to increase basket size without eroding margins on full-price sales.</a:t>
            </a:r>
            <a:endParaRPr lang="en-US" sz="1200" dirty="0"/>
          </a:p>
        </p:txBody>
      </p:sp>
      <p:sp>
        <p:nvSpPr>
          <p:cNvPr id="26" name="Shape 23"/>
          <p:cNvSpPr/>
          <p:nvPr/>
        </p:nvSpPr>
        <p:spPr>
          <a:xfrm>
            <a:off x="1680805" y="6101993"/>
            <a:ext cx="11268789" cy="27027"/>
          </a:xfrm>
          <a:prstGeom prst="rect">
            <a:avLst/>
          </a:prstGeom>
          <a:solidFill>
            <a:srgbClr val="3B4E4E">
              <a:alpha val="50000"/>
            </a:srgbClr>
          </a:solidFill>
          <a:ln/>
        </p:spPr>
      </p:sp>
      <p:sp>
        <p:nvSpPr>
          <p:cNvPr id="27" name="Text 24"/>
          <p:cNvSpPr/>
          <p:nvPr/>
        </p:nvSpPr>
        <p:spPr>
          <a:xfrm>
            <a:off x="1680805" y="6460212"/>
            <a:ext cx="2338388" cy="292298"/>
          </a:xfrm>
          <a:prstGeom prst="rect">
            <a:avLst/>
          </a:prstGeom>
          <a:noFill/>
          <a:ln/>
        </p:spPr>
        <p:txBody>
          <a:bodyPr wrap="none" lIns="0" tIns="0" rIns="0" bIns="0" rtlCol="0" anchor="t"/>
          <a:lstStyle/>
          <a:p>
            <a:pPr algn="l" indent="0" marL="0">
              <a:lnSpc>
                <a:spcPts val="2300"/>
              </a:lnSpc>
              <a:buNone/>
            </a:pPr>
            <a:r>
              <a:rPr lang="en-US" sz="1800" b="1" dirty="0">
                <a:solidFill>
                  <a:srgbClr val="233939"/>
                </a:solidFill>
                <a:latin typeface="Syne Bold" pitchFamily="34" charset="0"/>
                <a:ea typeface="Syne Bold" pitchFamily="34" charset="-122"/>
                <a:cs typeface="Syne Bold" pitchFamily="34" charset="-120"/>
              </a:rPr>
              <a:t>Project Author</a:t>
            </a:r>
            <a:endParaRPr lang="en-US" sz="1800" dirty="0"/>
          </a:p>
        </p:txBody>
      </p:sp>
      <p:sp>
        <p:nvSpPr>
          <p:cNvPr id="28" name="Text 25"/>
          <p:cNvSpPr/>
          <p:nvPr/>
        </p:nvSpPr>
        <p:spPr>
          <a:xfrm>
            <a:off x="1680805" y="6908363"/>
            <a:ext cx="5444252" cy="249317"/>
          </a:xfrm>
          <a:prstGeom prst="rect">
            <a:avLst/>
          </a:prstGeom>
          <a:noFill/>
          <a:ln/>
        </p:spPr>
        <p:txBody>
          <a:bodyPr wrap="none" lIns="0" tIns="0" rIns="0" bIns="0" rtlCol="0" anchor="t"/>
          <a:lstStyle/>
          <a:p>
            <a:pPr algn="l" indent="0" marL="0">
              <a:lnSpc>
                <a:spcPts val="1950"/>
              </a:lnSpc>
              <a:buNone/>
            </a:pPr>
            <a:r>
              <a:rPr lang="en-US" sz="1200" b="1" dirty="0">
                <a:solidFill>
                  <a:srgbClr val="3B4E4E"/>
                </a:solidFill>
                <a:latin typeface="Overpass Light" pitchFamily="34" charset="0"/>
                <a:ea typeface="Overpass Light" pitchFamily="34" charset="-122"/>
                <a:cs typeface="Overpass Light" pitchFamily="34" charset="-120"/>
              </a:rPr>
              <a:t>Ritesh Brahmachari</a:t>
            </a:r>
            <a:endParaRPr lang="en-US" sz="1200" dirty="0"/>
          </a:p>
        </p:txBody>
      </p:sp>
      <p:sp>
        <p:nvSpPr>
          <p:cNvPr id="29" name="Text 26"/>
          <p:cNvSpPr/>
          <p:nvPr/>
        </p:nvSpPr>
        <p:spPr>
          <a:xfrm>
            <a:off x="1680805" y="7297936"/>
            <a:ext cx="5444252" cy="249317"/>
          </a:xfrm>
          <a:prstGeom prst="rect">
            <a:avLst/>
          </a:prstGeom>
          <a:noFill/>
          <a:ln/>
        </p:spPr>
        <p:txBody>
          <a:bodyPr wrap="none" lIns="0" tIns="0" rIns="0" bIns="0" rtlCol="0" anchor="t"/>
          <a:lstStyle/>
          <a:p>
            <a:pPr algn="l" indent="0" marL="0">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Data Analyst specializing SQL, Python, and Power BI visualization</a:t>
            </a:r>
            <a:endParaRPr lang="en-US" sz="1200" dirty="0"/>
          </a:p>
        </p:txBody>
      </p:sp>
      <p:pic>
        <p:nvPicPr>
          <p:cNvPr id="30" name="Image 1" descr="preencoded.png">
            <a:hlinkClick r:id="rId4" tooltip=""/>
          </p:cNvPr>
          <p:cNvPicPr>
            <a:picLocks noChangeAspect="1"/>
          </p:cNvPicPr>
          <p:nvPr/>
        </p:nvPicPr>
        <p:blipFill>
          <a:blip r:embed="rId3"/>
          <a:stretch>
            <a:fillRect/>
          </a:stretch>
        </p:blipFill>
        <p:spPr>
          <a:xfrm>
            <a:off x="7512963" y="6479738"/>
            <a:ext cx="1412081" cy="428625"/>
          </a:xfrm>
          <a:prstGeom prst="rect">
            <a:avLst/>
          </a:prstGeom>
        </p:spPr>
      </p:pic>
      <p:pic>
        <p:nvPicPr>
          <p:cNvPr id="31" name="Image 2" descr="preencoded.png">
            <a:hlinkClick r:id="rId6" tooltip=""/>
          </p:cNvPr>
          <p:cNvPicPr>
            <a:picLocks noChangeAspect="1"/>
          </p:cNvPicPr>
          <p:nvPr/>
        </p:nvPicPr>
        <p:blipFill>
          <a:blip r:embed="rId5"/>
          <a:stretch>
            <a:fillRect/>
          </a:stretch>
        </p:blipFill>
        <p:spPr>
          <a:xfrm>
            <a:off x="9002911" y="6479738"/>
            <a:ext cx="1781532" cy="4286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2026-01-11T10:01:16Z</dcterms:created>
  <dcterms:modified xsi:type="dcterms:W3CDTF">2026-01-11T10:01:16Z</dcterms:modified>
</cp:coreProperties>
</file>